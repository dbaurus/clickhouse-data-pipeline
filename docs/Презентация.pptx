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  <p:sldMasterId id="2147483680" r:id="rId2"/>
    <p:sldMasterId id="2147483681" r:id="rId3"/>
  </p:sldMasterIdLst>
  <p:notesMasterIdLst>
    <p:notesMasterId r:id="rId5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99" r:id="rId11"/>
    <p:sldId id="301" r:id="rId12"/>
    <p:sldId id="300" r:id="rId13"/>
    <p:sldId id="302" r:id="rId14"/>
    <p:sldId id="304" r:id="rId15"/>
    <p:sldId id="303" r:id="rId16"/>
    <p:sldId id="305" r:id="rId17"/>
    <p:sldId id="306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294" r:id="rId50"/>
    <p:sldId id="295" r:id="rId51"/>
    <p:sldId id="296" r:id="rId52"/>
    <p:sldId id="297" r:id="rId53"/>
    <p:sldId id="298" r:id="rId54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56"/>
      <p:bold r:id="rId57"/>
      <p:italic r:id="rId58"/>
      <p:boldItalic r:id="rId59"/>
    </p:embeddedFont>
    <p:embeddedFont>
      <p:font typeface="Roboto" panose="020B0604020202020204" charset="0"/>
      <p:regular r:id="rId60"/>
      <p:bold r:id="rId61"/>
      <p:italic r:id="rId62"/>
      <p:boldItalic r:id="rId63"/>
    </p:embeddedFont>
    <p:embeddedFont>
      <p:font typeface="Roboto Medium" panose="020B0604020202020204" charset="0"/>
      <p:regular r:id="rId64"/>
      <p:bold r:id="rId65"/>
      <p:italic r:id="rId66"/>
      <p:boldItalic r:id="rId6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8092599-3BE6-4749-9E42-993CAE0AD635}">
  <a:tblStyle styleId="{E8092599-3BE6-4749-9E42-993CAE0AD63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474" y="-198"/>
      </p:cViewPr>
      <p:guideLst>
        <p:guide pos="5533"/>
        <p:guide pos="397"/>
        <p:guide orient="horz" pos="3240"/>
        <p:guide orient="horz"/>
        <p:guide orient="horz" pos="5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font" Target="fonts/font8.fntdata"/><Relationship Id="rId68" Type="http://schemas.openxmlformats.org/officeDocument/2006/relationships/presProps" Target="presProps.xml"/><Relationship Id="rId7" Type="http://schemas.openxmlformats.org/officeDocument/2006/relationships/slide" Target="slides/slide4.xml"/><Relationship Id="rId71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font" Target="fonts/font3.fntdata"/><Relationship Id="rId66" Type="http://schemas.openxmlformats.org/officeDocument/2006/relationships/font" Target="fonts/font11.fntdata"/><Relationship Id="rId5" Type="http://schemas.openxmlformats.org/officeDocument/2006/relationships/slide" Target="slides/slide2.xml"/><Relationship Id="rId61" Type="http://schemas.openxmlformats.org/officeDocument/2006/relationships/font" Target="fonts/font6.fntdata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font" Target="fonts/font1.fntdata"/><Relationship Id="rId64" Type="http://schemas.openxmlformats.org/officeDocument/2006/relationships/font" Target="fonts/font9.fntdata"/><Relationship Id="rId69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font" Target="fonts/font4.fntdata"/><Relationship Id="rId67" Type="http://schemas.openxmlformats.org/officeDocument/2006/relationships/font" Target="fonts/font12.fntdata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font" Target="fonts/font7.fntdata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font" Target="fonts/font2.fntdata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font" Target="fonts/font5.fntdata"/><Relationship Id="rId65" Type="http://schemas.openxmlformats.org/officeDocument/2006/relationships/font" Target="fonts/font10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f7d84ce1d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f7d84ce1d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8075b25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37546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15650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89159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40704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80688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23463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02358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37328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04438fca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104438fca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f7d84ce1d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f7d84ce1d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41727d1ac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41727d1ac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0f7d84ce1d_0_4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0f7d84ce1d_0_4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0f7d84ce1d_0_4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0f7d84ce1d_0_4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0f7d84ce1d_0_4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0f7d84ce1d_0_4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3ce85d903d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3ce85d903d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3ce85d903d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3ce85d903d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0f7d84ce1d_0_2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0f7d84ce1d_0_2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3ce85d903d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8" name="Google Shape;358;g33ce85d903d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3ce85d903d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3ce85d903d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3ce85d903d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3ce85d903d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3ce85d903d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3ce85d903d_0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3ce85d903d_0_4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3ce85d903d_0_4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3ce85d903d_0_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3ce85d903d_0_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3ce85d903d_0_4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3ce85d903d_0_4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3ce85d903d_0_5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3ce85d903d_0_5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3ce85d903d_0_5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3ce85d903d_0_5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3ce85d903d_0_5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3ce85d903d_0_5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3ce85d903d_0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3ce85d903d_0_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3ce85d903d_0_5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3ce85d903d_0_5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3ce85d903d_0_5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3ce85d903d_0_5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3ce85d903d_0_6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3ce85d903d_0_6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3ce85d903d_0_6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3ce85d903d_0_6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3ce85d903d_0_6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3ce85d903d_0_6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3ce85d903d_0_6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3ce85d903d_0_6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3ce85d903d_0_6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3ce85d903d_0_6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3ce85d903d_0_6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3ce85d903d_0_6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3ce85d903d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3ce85d903d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3ce85d903d_0_7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33ce85d903d_0_7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3ce85d903d_0_7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3ce85d903d_0_7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3ce85d903d_0_7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33ce85d903d_0_7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3ce85d903d_0_7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33ce85d903d_0_7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3ce85d903d_0_7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33ce85d903d_0_7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3ce85d903d_0_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3ce85d903d_0_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лок текст + картинка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pic>
        <p:nvPicPr>
          <p:cNvPr id="71" name="Google Shape;7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7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, фон градиент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этапы процесса">
  <p:cSld name="CUSTOM_5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исок в 2 колонки ">
  <p:cSld name="CUSTOM_8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{E8092599-3BE6-4749-9E42-993CAE0AD635}</a:tableStyleId>
              </a:tblPr>
              <a:tblGrid>
                <a:gridCol w="38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Описание эксперимента</a:t>
                      </a:r>
                      <a:r>
                        <a:rPr lang="ru" sz="1700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Технические детали</a:t>
                      </a:r>
                      <a:endParaRPr sz="17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175">
                <a:tc>
                  <a:txBody>
                    <a:bodyPr/>
                    <a:lstStyle/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Гипотеза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Целевая аудитория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Ожидаемый результат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</a:pPr>
                      <a:r>
                        <a:rPr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сылка на источник" type="twoColTx">
  <p:cSld name="TITLE_AND_TWO_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 ">
  <p:cSld name="CUSTOM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8" name="Google Shape;98;p23"/>
          <p:cNvGraphicFramePr/>
          <p:nvPr/>
        </p:nvGraphicFramePr>
        <p:xfrm>
          <a:off x="608700" y="159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{E8092599-3BE6-4749-9E42-993CAE0AD635}</a:tableStyleId>
              </a:tblPr>
              <a:tblGrid>
                <a:gridCol w="3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плашки + иллюстрация">
  <p:cSld name="SECTION_TITLE_AND_DESCRI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1" name="Google Shape;101;p24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24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4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блока">
  <p:cSld name="CUSTOM_7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sz="1100"/>
          </a:p>
        </p:txBody>
      </p:sp>
      <p:sp>
        <p:nvSpPr>
          <p:cNvPr id="114" name="Google Shape;114;p26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жный тезис крупным шрифтом " type="secHead">
  <p:cSld name="SECTION_HEADER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2" name="Google Shape;122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31"/>
          <p:cNvSpPr/>
          <p:nvPr/>
        </p:nvSpPr>
        <p:spPr>
          <a:xfrm>
            <a:off x="606200" y="1441163"/>
            <a:ext cx="7938600" cy="35649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31"/>
          <p:cNvSpPr txBox="1">
            <a:spLocks noGrp="1"/>
          </p:cNvSpPr>
          <p:nvPr>
            <p:ph type="subTitle" idx="1"/>
          </p:nvPr>
        </p:nvSpPr>
        <p:spPr>
          <a:xfrm>
            <a:off x="743675" y="1496071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_3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 1">
  <p:cSld name="CUSTOM_2_1_1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3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 1">
  <p:cSld name="CUSTOM_4_2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0" name="Google Shape;140;p3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3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9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baurus/clickhouse-data-pipeline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hyperlink" Target="https://github.com/dbaurus/clickhouse-data-pipeline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8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srv-ab-01:8000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3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_jBkKU2HRLL26Wzz7eOPESOVAaIuvibp?usp=drive_link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47.png"/></Relationships>
</file>

<file path=ppt/slides/_rels/slide2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6.png"/><Relationship Id="rId21" Type="http://schemas.openxmlformats.org/officeDocument/2006/relationships/image" Target="../media/image13.png"/><Relationship Id="rId42" Type="http://schemas.openxmlformats.org/officeDocument/2006/relationships/image" Target="../media/image81.png"/><Relationship Id="rId47" Type="http://schemas.openxmlformats.org/officeDocument/2006/relationships/image" Target="../media/image85.png"/><Relationship Id="rId63" Type="http://schemas.openxmlformats.org/officeDocument/2006/relationships/image" Target="../media/image99.png"/><Relationship Id="rId68" Type="http://schemas.openxmlformats.org/officeDocument/2006/relationships/image" Target="../media/image104.png"/><Relationship Id="rId7" Type="http://schemas.openxmlformats.org/officeDocument/2006/relationships/image" Target="../media/image39.png"/><Relationship Id="rId71" Type="http://schemas.openxmlformats.org/officeDocument/2006/relationships/image" Target="../media/image107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47.png"/><Relationship Id="rId29" Type="http://schemas.openxmlformats.org/officeDocument/2006/relationships/image" Target="../media/image69.png"/><Relationship Id="rId11" Type="http://schemas.openxmlformats.org/officeDocument/2006/relationships/image" Target="../media/image54.png"/><Relationship Id="rId24" Type="http://schemas.openxmlformats.org/officeDocument/2006/relationships/image" Target="../media/image64.png"/><Relationship Id="rId32" Type="http://schemas.openxmlformats.org/officeDocument/2006/relationships/image" Target="../media/image72.png"/><Relationship Id="rId37" Type="http://schemas.openxmlformats.org/officeDocument/2006/relationships/image" Target="../media/image77.png"/><Relationship Id="rId40" Type="http://schemas.openxmlformats.org/officeDocument/2006/relationships/image" Target="../media/image80.png"/><Relationship Id="rId45" Type="http://schemas.openxmlformats.org/officeDocument/2006/relationships/image" Target="../media/image83.png"/><Relationship Id="rId53" Type="http://schemas.openxmlformats.org/officeDocument/2006/relationships/image" Target="../media/image91.png"/><Relationship Id="rId58" Type="http://schemas.openxmlformats.org/officeDocument/2006/relationships/image" Target="../media/image95.png"/><Relationship Id="rId66" Type="http://schemas.openxmlformats.org/officeDocument/2006/relationships/image" Target="../media/image102.png"/><Relationship Id="rId5" Type="http://schemas.openxmlformats.org/officeDocument/2006/relationships/image" Target="../media/image46.png"/><Relationship Id="rId61" Type="http://schemas.openxmlformats.org/officeDocument/2006/relationships/image" Target="../media/image97.png"/><Relationship Id="rId19" Type="http://schemas.openxmlformats.org/officeDocument/2006/relationships/image" Target="../media/image60.png"/><Relationship Id="rId14" Type="http://schemas.openxmlformats.org/officeDocument/2006/relationships/image" Target="../media/image56.png"/><Relationship Id="rId22" Type="http://schemas.openxmlformats.org/officeDocument/2006/relationships/image" Target="../media/image62.png"/><Relationship Id="rId27" Type="http://schemas.openxmlformats.org/officeDocument/2006/relationships/image" Target="../media/image67.png"/><Relationship Id="rId30" Type="http://schemas.openxmlformats.org/officeDocument/2006/relationships/image" Target="../media/image70.png"/><Relationship Id="rId35" Type="http://schemas.openxmlformats.org/officeDocument/2006/relationships/image" Target="../media/image75.png"/><Relationship Id="rId43" Type="http://schemas.openxmlformats.org/officeDocument/2006/relationships/image" Target="../media/image42.png"/><Relationship Id="rId48" Type="http://schemas.openxmlformats.org/officeDocument/2006/relationships/image" Target="../media/image86.png"/><Relationship Id="rId56" Type="http://schemas.openxmlformats.org/officeDocument/2006/relationships/image" Target="../media/image93.png"/><Relationship Id="rId64" Type="http://schemas.openxmlformats.org/officeDocument/2006/relationships/image" Target="../media/image100.png"/><Relationship Id="rId69" Type="http://schemas.openxmlformats.org/officeDocument/2006/relationships/image" Target="../media/image105.png"/><Relationship Id="rId8" Type="http://schemas.openxmlformats.org/officeDocument/2006/relationships/image" Target="../media/image51.png"/><Relationship Id="rId51" Type="http://schemas.openxmlformats.org/officeDocument/2006/relationships/image" Target="../media/image89.png"/><Relationship Id="rId3" Type="http://schemas.openxmlformats.org/officeDocument/2006/relationships/image" Target="../media/image48.png"/><Relationship Id="rId12" Type="http://schemas.openxmlformats.org/officeDocument/2006/relationships/image" Target="../media/image38.png"/><Relationship Id="rId17" Type="http://schemas.openxmlformats.org/officeDocument/2006/relationships/image" Target="../media/image58.png"/><Relationship Id="rId25" Type="http://schemas.openxmlformats.org/officeDocument/2006/relationships/image" Target="../media/image65.png"/><Relationship Id="rId33" Type="http://schemas.openxmlformats.org/officeDocument/2006/relationships/image" Target="../media/image73.png"/><Relationship Id="rId38" Type="http://schemas.openxmlformats.org/officeDocument/2006/relationships/image" Target="../media/image78.png"/><Relationship Id="rId46" Type="http://schemas.openxmlformats.org/officeDocument/2006/relationships/image" Target="../media/image84.png"/><Relationship Id="rId59" Type="http://schemas.openxmlformats.org/officeDocument/2006/relationships/image" Target="../media/image37.png"/><Relationship Id="rId67" Type="http://schemas.openxmlformats.org/officeDocument/2006/relationships/image" Target="../media/image103.png"/><Relationship Id="rId20" Type="http://schemas.openxmlformats.org/officeDocument/2006/relationships/image" Target="../media/image61.png"/><Relationship Id="rId41" Type="http://schemas.openxmlformats.org/officeDocument/2006/relationships/image" Target="../media/image41.png"/><Relationship Id="rId54" Type="http://schemas.openxmlformats.org/officeDocument/2006/relationships/image" Target="../media/image40.png"/><Relationship Id="rId62" Type="http://schemas.openxmlformats.org/officeDocument/2006/relationships/image" Target="../media/image98.png"/><Relationship Id="rId70" Type="http://schemas.openxmlformats.org/officeDocument/2006/relationships/image" Target="../media/image106.png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50.png"/><Relationship Id="rId15" Type="http://schemas.openxmlformats.org/officeDocument/2006/relationships/image" Target="../media/image57.png"/><Relationship Id="rId23" Type="http://schemas.openxmlformats.org/officeDocument/2006/relationships/image" Target="../media/image63.png"/><Relationship Id="rId28" Type="http://schemas.openxmlformats.org/officeDocument/2006/relationships/image" Target="../media/image68.png"/><Relationship Id="rId36" Type="http://schemas.openxmlformats.org/officeDocument/2006/relationships/image" Target="../media/image76.png"/><Relationship Id="rId49" Type="http://schemas.openxmlformats.org/officeDocument/2006/relationships/image" Target="../media/image87.png"/><Relationship Id="rId57" Type="http://schemas.openxmlformats.org/officeDocument/2006/relationships/image" Target="../media/image94.png"/><Relationship Id="rId10" Type="http://schemas.openxmlformats.org/officeDocument/2006/relationships/image" Target="../media/image53.png"/><Relationship Id="rId31" Type="http://schemas.openxmlformats.org/officeDocument/2006/relationships/image" Target="../media/image71.png"/><Relationship Id="rId44" Type="http://schemas.openxmlformats.org/officeDocument/2006/relationships/image" Target="../media/image82.png"/><Relationship Id="rId52" Type="http://schemas.openxmlformats.org/officeDocument/2006/relationships/image" Target="../media/image90.png"/><Relationship Id="rId60" Type="http://schemas.openxmlformats.org/officeDocument/2006/relationships/image" Target="../media/image96.png"/><Relationship Id="rId65" Type="http://schemas.openxmlformats.org/officeDocument/2006/relationships/image" Target="../media/image101.png"/><Relationship Id="rId4" Type="http://schemas.openxmlformats.org/officeDocument/2006/relationships/image" Target="../media/image49.png"/><Relationship Id="rId9" Type="http://schemas.openxmlformats.org/officeDocument/2006/relationships/image" Target="../media/image52.png"/><Relationship Id="rId13" Type="http://schemas.openxmlformats.org/officeDocument/2006/relationships/image" Target="../media/image55.png"/><Relationship Id="rId18" Type="http://schemas.openxmlformats.org/officeDocument/2006/relationships/image" Target="../media/image59.png"/><Relationship Id="rId39" Type="http://schemas.openxmlformats.org/officeDocument/2006/relationships/image" Target="../media/image79.png"/><Relationship Id="rId34" Type="http://schemas.openxmlformats.org/officeDocument/2006/relationships/image" Target="../media/image74.png"/><Relationship Id="rId50" Type="http://schemas.openxmlformats.org/officeDocument/2006/relationships/image" Target="../media/image88.png"/><Relationship Id="rId55" Type="http://schemas.openxmlformats.org/officeDocument/2006/relationships/image" Target="../media/image9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12.png"/><Relationship Id="rId3" Type="http://schemas.openxmlformats.org/officeDocument/2006/relationships/image" Target="../media/image11.png"/><Relationship Id="rId7" Type="http://schemas.openxmlformats.org/officeDocument/2006/relationships/image" Target="../media/image110.png"/><Relationship Id="rId12" Type="http://schemas.openxmlformats.org/officeDocument/2006/relationships/image" Target="../media/image1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26.png"/><Relationship Id="rId11" Type="http://schemas.openxmlformats.org/officeDocument/2006/relationships/image" Target="../media/image114.png"/><Relationship Id="rId5" Type="http://schemas.openxmlformats.org/officeDocument/2006/relationships/image" Target="../media/image109.png"/><Relationship Id="rId15" Type="http://schemas.openxmlformats.org/officeDocument/2006/relationships/image" Target="../media/image117.png"/><Relationship Id="rId10" Type="http://schemas.openxmlformats.org/officeDocument/2006/relationships/image" Target="../media/image113.png"/><Relationship Id="rId4" Type="http://schemas.openxmlformats.org/officeDocument/2006/relationships/image" Target="../media/image108.png"/><Relationship Id="rId9" Type="http://schemas.openxmlformats.org/officeDocument/2006/relationships/image" Target="../media/image112.png"/><Relationship Id="rId14" Type="http://schemas.openxmlformats.org/officeDocument/2006/relationships/image" Target="../media/image1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habr.com/ru/companies/rosatom/articles/841842/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43.png"/><Relationship Id="rId5" Type="http://schemas.openxmlformats.org/officeDocument/2006/relationships/image" Target="../media/image46.png"/><Relationship Id="rId4" Type="http://schemas.openxmlformats.org/officeDocument/2006/relationships/image" Target="../media/image49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7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118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1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1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l="18598" r="18591"/>
          <a:stretch/>
        </p:blipFill>
        <p:spPr>
          <a:xfrm>
            <a:off x="-75950" y="-3216975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433125" y="1534950"/>
            <a:ext cx="75843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</a:pPr>
            <a:r>
              <a:rPr lang="ru-RU" sz="4000" b="1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Управление потоками данных в ClickHouse</a:t>
            </a:r>
            <a:endParaRPr sz="4500" b="1" dirty="0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629700" y="4138025"/>
            <a:ext cx="2226234" cy="766332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886050" y="4127375"/>
            <a:ext cx="1969884" cy="76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ru-RU" b="1" dirty="0">
                <a:solidFill>
                  <a:schemeClr val="bg1"/>
                </a:solidFill>
              </a:rPr>
              <a:t>ClickHouse для инженеров и архитекторов БД</a:t>
            </a:r>
            <a:endParaRPr sz="100" dirty="0">
              <a:solidFill>
                <a:schemeClr val="bg1"/>
              </a:solidFill>
              <a:latin typeface="+mj-lt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>
            <a:spLocks noGrp="1"/>
          </p:cNvSpPr>
          <p:nvPr>
            <p:ph type="title"/>
          </p:nvPr>
        </p:nvSpPr>
        <p:spPr>
          <a:xfrm>
            <a:off x="744125" y="1415974"/>
            <a:ext cx="7935300" cy="14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 dirty="0">
                <a:solidFill>
                  <a:schemeClr val="dk1"/>
                </a:solidFill>
              </a:rPr>
              <a:t>Меня хорошо видно</a:t>
            </a:r>
            <a:endParaRPr sz="4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dirty="0">
                <a:solidFill>
                  <a:schemeClr val="dk1"/>
                </a:solidFill>
              </a:rPr>
              <a:t>&amp; слышно?</a:t>
            </a:r>
            <a:endParaRPr sz="4000" dirty="0">
              <a:solidFill>
                <a:schemeClr val="dk1"/>
              </a:solidFill>
            </a:endParaRPr>
          </a:p>
        </p:txBody>
      </p:sp>
      <p:pic>
        <p:nvPicPr>
          <p:cNvPr id="157" name="Google Shape;1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>
            <a:spLocks noGrp="1"/>
          </p:cNvSpPr>
          <p:nvPr>
            <p:ph type="title"/>
          </p:nvPr>
        </p:nvSpPr>
        <p:spPr>
          <a:xfrm>
            <a:off x="500550" y="313624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>
                <a:solidFill>
                  <a:schemeClr val="tx1"/>
                </a:solidFill>
              </a:rPr>
              <a:t>Защита проекта</a:t>
            </a:r>
            <a:endParaRPr sz="3000" dirty="0">
              <a:solidFill>
                <a:schemeClr val="tx1"/>
              </a:solidFill>
            </a:endParaRPr>
          </a:p>
          <a:p>
            <a:pPr lvl="0">
              <a:buSzPts val="1100"/>
            </a:pPr>
            <a:r>
              <a:rPr lang="ru" sz="3000" dirty="0">
                <a:solidFill>
                  <a:schemeClr val="accent6">
                    <a:lumMod val="50000"/>
                  </a:schemeClr>
                </a:solidFill>
              </a:rPr>
              <a:t>Тема</a:t>
            </a:r>
            <a:r>
              <a:rPr lang="ru" sz="3000" dirty="0">
                <a:solidFill>
                  <a:schemeClr val="tx1"/>
                </a:solidFill>
              </a:rPr>
              <a:t>:</a:t>
            </a:r>
            <a:r>
              <a:rPr lang="ru" sz="30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ru-RU" sz="3000" dirty="0">
                <a:solidFill>
                  <a:schemeClr val="accent5"/>
                </a:solidFill>
              </a:rPr>
              <a:t>Управление потоками данных в ClickHouse</a:t>
            </a:r>
            <a:endParaRPr sz="3000" dirty="0">
              <a:solidFill>
                <a:schemeClr val="accent5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5" name="Google Shape;165;p37"/>
          <p:cNvSpPr txBox="1"/>
          <p:nvPr/>
        </p:nvSpPr>
        <p:spPr>
          <a:xfrm>
            <a:off x="3899475" y="2336401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00" b="1" dirty="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Фролов Константин</a:t>
            </a:r>
            <a:endParaRPr sz="2300" b="1" dirty="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7"/>
          <p:cNvSpPr txBox="1"/>
          <p:nvPr/>
        </p:nvSpPr>
        <p:spPr>
          <a:xfrm>
            <a:off x="3899475" y="2893378"/>
            <a:ext cx="3193200" cy="42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latin typeface="Roboto Medium"/>
                <a:ea typeface="Roboto Medium"/>
                <a:cs typeface="Roboto Medium"/>
                <a:sym typeface="Roboto Medium"/>
              </a:rPr>
              <a:t>Администратор баз данных</a:t>
            </a:r>
            <a:endParaRPr sz="1300" dirty="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08E87C5-35E9-469E-9CA4-D178BDB1116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846" t="19556" b="12956"/>
          <a:stretch/>
        </p:blipFill>
        <p:spPr>
          <a:xfrm>
            <a:off x="201168" y="1770532"/>
            <a:ext cx="2980944" cy="3008732"/>
          </a:xfrm>
          <a:prstGeom prst="flowChartConnector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B3EC6F4-C203-4E41-AF17-CABC6F9826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412" y="3743325"/>
            <a:ext cx="3057525" cy="9334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защиты</a:t>
            </a:r>
            <a:endParaRPr dirty="0"/>
          </a:p>
        </p:txBody>
      </p:sp>
      <p:sp>
        <p:nvSpPr>
          <p:cNvPr id="172" name="Google Shape;172;p38"/>
          <p:cNvSpPr/>
          <p:nvPr/>
        </p:nvSpPr>
        <p:spPr>
          <a:xfrm>
            <a:off x="1138125" y="149130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38"/>
          <p:cNvSpPr/>
          <p:nvPr/>
        </p:nvSpPr>
        <p:spPr>
          <a:xfrm>
            <a:off x="1138125" y="207149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технологии использовались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38"/>
          <p:cNvSpPr/>
          <p:nvPr/>
        </p:nvSpPr>
        <p:spPr>
          <a:xfrm>
            <a:off x="1138125" y="2651676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38"/>
          <p:cNvSpPr/>
          <p:nvPr/>
        </p:nvSpPr>
        <p:spPr>
          <a:xfrm>
            <a:off x="1138125" y="324622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38"/>
          <p:cNvCxnSpPr>
            <a:stCxn id="172" idx="1"/>
            <a:endCxn id="173" idx="1"/>
          </p:cNvCxnSpPr>
          <p:nvPr/>
        </p:nvCxnSpPr>
        <p:spPr>
          <a:xfrm>
            <a:off x="1138125" y="167940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38"/>
          <p:cNvCxnSpPr>
            <a:stCxn id="173" idx="1"/>
            <a:endCxn id="174" idx="1"/>
          </p:cNvCxnSpPr>
          <p:nvPr/>
        </p:nvCxnSpPr>
        <p:spPr>
          <a:xfrm>
            <a:off x="1138125" y="225959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38"/>
          <p:cNvCxnSpPr>
            <a:stCxn id="174" idx="1"/>
            <a:endCxn id="175" idx="1"/>
          </p:cNvCxnSpPr>
          <p:nvPr/>
        </p:nvCxnSpPr>
        <p:spPr>
          <a:xfrm>
            <a:off x="1138125" y="2839776"/>
            <a:ext cx="600" cy="5946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38"/>
          <p:cNvCxnSpPr>
            <a:stCxn id="175" idx="1"/>
            <a:endCxn id="180" idx="1"/>
          </p:cNvCxnSpPr>
          <p:nvPr/>
        </p:nvCxnSpPr>
        <p:spPr>
          <a:xfrm>
            <a:off x="1138125" y="3434325"/>
            <a:ext cx="600" cy="5268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0" name="Google Shape;180;p38"/>
          <p:cNvSpPr/>
          <p:nvPr/>
        </p:nvSpPr>
        <p:spPr>
          <a:xfrm>
            <a:off x="1138137" y="377287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/>
        </p:nvSpPr>
        <p:spPr>
          <a:xfrm>
            <a:off x="560500" y="324881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</a:t>
            </a:r>
            <a:r>
              <a:rPr lang="ru" sz="3000" b="1" dirty="0">
                <a:latin typeface="Roboto"/>
                <a:ea typeface="Roboto"/>
                <a:cs typeface="Roboto"/>
                <a:sym typeface="Roboto"/>
              </a:rPr>
              <a:t>ь и задачи</a:t>
            </a:r>
            <a:r>
              <a:rPr lang="ru" sz="30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проекта</a:t>
            </a:r>
            <a:endParaRPr sz="3000" b="1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6" name="Google Shape;186;p39"/>
          <p:cNvGraphicFramePr/>
          <p:nvPr>
            <p:extLst>
              <p:ext uri="{D42A27DB-BD31-4B8C-83A1-F6EECF244321}">
                <p14:modId xmlns:p14="http://schemas.microsoft.com/office/powerpoint/2010/main" val="606362746"/>
              </p:ext>
            </p:extLst>
          </p:nvPr>
        </p:nvGraphicFramePr>
        <p:xfrm>
          <a:off x="952500" y="2235288"/>
          <a:ext cx="7239000" cy="3126082"/>
        </p:xfrm>
        <a:graphic>
          <a:graphicData uri="http://schemas.openxmlformats.org/drawingml/2006/table">
            <a:tbl>
              <a:tblPr>
                <a:noFill/>
                <a:tableStyleId>{E8092599-3BE6-4749-9E42-993CAE0AD635}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95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Подготовить 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GIT</a:t>
                      </a: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репозиторий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95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Развернуть инфраструктуру для выполнения проекта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064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Настроить сервера при помощи </a:t>
                      </a:r>
                      <a:r>
                        <a:rPr lang="ru-RU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пайплайна</a:t>
                      </a:r>
                      <a:endParaRPr lang="ru-RU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ru-RU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Сгенерировать тестовые данные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 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PostgreSQL.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064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6.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Загрузить данные в </a:t>
                      </a:r>
                      <a:r>
                        <a:rPr lang="ru-RU" dirty="0"/>
                        <a:t>ClickHouse и выгрузить их же в .</a:t>
                      </a:r>
                      <a:r>
                        <a:rPr lang="en-US" dirty="0"/>
                        <a:t>csv</a:t>
                      </a:r>
                      <a:endParaRPr lang="ru-RU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Визуализировать данные в виде дашборда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302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7" name="Google Shape;187;p39"/>
          <p:cNvSpPr/>
          <p:nvPr/>
        </p:nvSpPr>
        <p:spPr>
          <a:xfrm>
            <a:off x="1635240" y="1194727"/>
            <a:ext cx="5880509" cy="853673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Цель проекта: </a:t>
            </a:r>
            <a:r>
              <a:rPr lang="ru-RU" dirty="0"/>
              <a:t>Настроить систему сбора, обработки и анализа данных в реальном времени с использованием ClickHouse как центрального хранилища данных.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Какие технологии использовались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graphicFrame>
        <p:nvGraphicFramePr>
          <p:cNvPr id="199" name="Google Shape;199;p40"/>
          <p:cNvGraphicFramePr/>
          <p:nvPr>
            <p:extLst>
              <p:ext uri="{D42A27DB-BD31-4B8C-83A1-F6EECF244321}">
                <p14:modId xmlns:p14="http://schemas.microsoft.com/office/powerpoint/2010/main" val="1431410169"/>
              </p:ext>
            </p:extLst>
          </p:nvPr>
        </p:nvGraphicFramePr>
        <p:xfrm>
          <a:off x="5455713" y="1460829"/>
          <a:ext cx="6910910" cy="3020699"/>
        </p:xfrm>
        <a:graphic>
          <a:graphicData uri="http://schemas.openxmlformats.org/drawingml/2006/table">
            <a:tbl>
              <a:tblPr>
                <a:noFill/>
                <a:tableStyleId>{E8092599-3BE6-4749-9E42-993CAE0AD635}</a:tableStyleId>
              </a:tblPr>
              <a:tblGrid>
                <a:gridCol w="314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96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OS</a:t>
                      </a:r>
                      <a:r>
                        <a:rPr lang="ru-RU" sz="1100" b="1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–</a:t>
                      </a: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Ubuntu</a:t>
                      </a:r>
                      <a:endParaRPr lang="ru-RU" sz="1100" dirty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Data Warehousing</a:t>
                      </a: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ClickHouse</a:t>
                      </a:r>
                      <a:r>
                        <a:rPr lang="ru-RU" sz="11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Server</a:t>
                      </a:r>
                      <a:br>
                        <a:rPr lang="en-US" sz="11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Реплицированный кластер</a:t>
                      </a: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1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DB</a:t>
                      </a: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- PostgreSQL</a:t>
                      </a:r>
                      <a:endParaRPr lang="ru-RU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ETL</a:t>
                      </a: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- Airbyte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ru-RU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Roboto"/>
                        <a:cs typeface="Arial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Monitoring </a:t>
                      </a: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–</a:t>
                      </a: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Superset</a:t>
                      </a:r>
                      <a:endParaRPr lang="ru-RU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100" b="1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Data Gen </a:t>
                      </a: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Скрипты генерирующие данные</a:t>
                      </a:r>
                      <a:endParaRPr 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D1BA8A7-6EB2-4C57-A50A-EBA444B9C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9004" y="1014107"/>
            <a:ext cx="1622108" cy="106578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D424869-6EC3-422D-A62C-1A5184ABF1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5984" y="2049132"/>
            <a:ext cx="1748148" cy="174814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1C6DA60-48B9-48DD-A5FB-B95C2185BA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832" y="2225598"/>
            <a:ext cx="2021405" cy="92785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B29B385-1273-4491-B2F6-3F3C927536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6111" y="2340228"/>
            <a:ext cx="2059343" cy="823737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C86B0F35-4D32-4705-A5C6-261CED43A5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8600" y="3924488"/>
            <a:ext cx="2857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>
                <a:latin typeface="Arial" panose="020B0604020202020204" pitchFamily="34" charset="0"/>
                <a:cs typeface="Arial" panose="020B0604020202020204" pitchFamily="34" charset="0"/>
              </a:rPr>
              <a:t>Что получилось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#1</a:t>
            </a:r>
            <a:endParaRPr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Google Shape;575;p71">
            <a:extLst>
              <a:ext uri="{FF2B5EF4-FFF2-40B4-BE49-F238E27FC236}">
                <a16:creationId xmlns:a16="http://schemas.microsoft.com/office/drawing/2014/main" id="{7AC805A7-6DE5-4BCB-969F-746BED8062F8}"/>
              </a:ext>
            </a:extLst>
          </p:cNvPr>
          <p:cNvSpPr txBox="1">
            <a:spLocks/>
          </p:cNvSpPr>
          <p:nvPr/>
        </p:nvSpPr>
        <p:spPr>
          <a:xfrm>
            <a:off x="6344478" y="919458"/>
            <a:ext cx="2771923" cy="3304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4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33350" indent="0">
              <a:buNone/>
            </a:pPr>
            <a:r>
              <a:rPr lang="ru-RU" sz="2200" b="1" dirty="0">
                <a:latin typeface="Arial" panose="020B0604020202020204" pitchFamily="34" charset="0"/>
                <a:cs typeface="Arial" panose="020B0604020202020204" pitchFamily="34" charset="0"/>
              </a:rPr>
              <a:t>Компоненты:</a:t>
            </a:r>
          </a:p>
          <a:p>
            <a:pPr marL="133350" indent="0"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srv-ch-01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3350" lvl="0" indent="0">
              <a:buNone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ClickHouse Server (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нода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1)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3350" lvl="0" indent="0">
              <a:buNone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ClickHouse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Keeper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кворум</a:t>
            </a:r>
          </a:p>
          <a:p>
            <a:pPr marL="133350" indent="0"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srv-ch-02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3350" lvl="0" indent="0">
              <a:buNone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ClickHouse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Server (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нода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2)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3350" lvl="0" indent="0">
              <a:buNone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ClickHouse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Keeper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кворум</a:t>
            </a:r>
          </a:p>
          <a:p>
            <a:pPr marL="133350" indent="0"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srv-db-01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3350" lvl="0" indent="0">
              <a:buNone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  <a:b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- Генератор данных</a:t>
            </a:r>
          </a:p>
          <a:p>
            <a:pPr marL="133350" indent="0"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srv-ab-01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3350" lvl="0" indent="0">
              <a:buNone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ETL-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платформа</a:t>
            </a:r>
          </a:p>
          <a:p>
            <a:pPr marL="133350" lvl="0" indent="0">
              <a:buNone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Airbyte (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Docker)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3350" indent="0">
              <a:buNone/>
            </a:pPr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srv-mon-01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3350" lvl="0" indent="0">
              <a:buNone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- Визуализация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Superset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3350" lvl="0" indent="0">
              <a:buNone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- Ansible Control Node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7F3EFC7-BBE6-44AD-B412-FE89B67518AC}"/>
              </a:ext>
            </a:extLst>
          </p:cNvPr>
          <p:cNvSpPr/>
          <p:nvPr/>
        </p:nvSpPr>
        <p:spPr>
          <a:xfrm>
            <a:off x="4403039" y="1966490"/>
            <a:ext cx="1941439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b="1" dirty="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Потоки данных:</a:t>
            </a:r>
            <a:endParaRPr lang="en-US" sz="1000" b="1" dirty="0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+mj-lt"/>
              <a:buAutoNum type="arabicPeriod"/>
            </a:pPr>
            <a:r>
              <a:rPr lang="ru-RU" sz="800" dirty="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Генератор → </a:t>
            </a:r>
            <a:r>
              <a:rPr lang="en-US" sz="800" dirty="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  <a:endParaRPr lang="en-US" sz="800" dirty="0">
              <a:solidFill>
                <a:srgbClr val="2C2C3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US" sz="800" dirty="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Airbyte </a:t>
            </a:r>
            <a:r>
              <a:rPr lang="ru-RU" sz="800" dirty="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забирает данные</a:t>
            </a:r>
            <a:endParaRPr lang="ru-RU" sz="800" dirty="0">
              <a:solidFill>
                <a:srgbClr val="2C2C3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US" sz="800" dirty="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Airbyte → ClickHouse </a:t>
            </a:r>
            <a:endParaRPr lang="ru-RU" sz="800" dirty="0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US" sz="800" dirty="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ClickHouse Keeper</a:t>
            </a:r>
            <a:r>
              <a:rPr lang="en-US" sz="800" dirty="0">
                <a:solidFill>
                  <a:srgbClr val="2C2C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— </a:t>
            </a:r>
            <a:r>
              <a:rPr lang="ru-RU" sz="800" dirty="0">
                <a:solidFill>
                  <a:srgbClr val="2C2C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репликация</a:t>
            </a:r>
          </a:p>
          <a:p>
            <a:pPr>
              <a:buFont typeface="+mj-lt"/>
              <a:buAutoNum type="arabicPeriod"/>
            </a:pPr>
            <a:r>
              <a:rPr lang="en-US" sz="800" dirty="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Grafana </a:t>
            </a:r>
            <a:r>
              <a:rPr lang="ru-RU" sz="800" dirty="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читает из </a:t>
            </a:r>
            <a:r>
              <a:rPr lang="en-US" sz="800" dirty="0" err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ClickHouse</a:t>
            </a:r>
            <a:endParaRPr lang="en-US" sz="800" dirty="0">
              <a:solidFill>
                <a:srgbClr val="2C2C3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+mj-lt"/>
              <a:buAutoNum type="arabicPeriod"/>
            </a:pPr>
            <a:r>
              <a:rPr lang="ru-RU" sz="800" dirty="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Выгрузка в </a:t>
            </a:r>
            <a:r>
              <a:rPr lang="en-US" sz="800" dirty="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CSV → Filesystem</a:t>
            </a:r>
            <a:endParaRPr lang="en-US" sz="800" dirty="0">
              <a:solidFill>
                <a:srgbClr val="2C2C3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F563D46-38A1-42AA-8D21-4ECF3DAA2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50" y="1057546"/>
            <a:ext cx="3902489" cy="38215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Что получилось</a:t>
            </a:r>
            <a:r>
              <a:rPr lang="en-US" sz="3000" dirty="0"/>
              <a:t> #2</a:t>
            </a:r>
            <a:endParaRPr sz="3000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01FB269-C83B-4A47-8309-F684B86D4CE1}"/>
              </a:ext>
            </a:extLst>
          </p:cNvPr>
          <p:cNvSpPr/>
          <p:nvPr/>
        </p:nvSpPr>
        <p:spPr>
          <a:xfrm>
            <a:off x="500550" y="1170078"/>
            <a:ext cx="4572000" cy="64434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Репозиторий </a:t>
            </a:r>
            <a:endParaRPr lang="ru-RU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u="sng" dirty="0">
                <a:solidFill>
                  <a:srgbClr val="0563C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https://github.com/dbaurus/clickhouse-data-pipeline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91E783D-728C-459C-9737-2BA691FB33A7}"/>
              </a:ext>
            </a:extLst>
          </p:cNvPr>
          <p:cNvSpPr/>
          <p:nvPr/>
        </p:nvSpPr>
        <p:spPr>
          <a:xfrm>
            <a:off x="500550" y="2009432"/>
            <a:ext cx="4572000" cy="4778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800" b="1" dirty="0"/>
              <a:t>#</a:t>
            </a:r>
            <a:r>
              <a:rPr lang="ru-RU" sz="800" b="1" dirty="0"/>
              <a:t>Создание пользователя НА ВСЕХ ХОСТАХ!</a:t>
            </a:r>
            <a:br>
              <a:rPr lang="en-US" sz="800" b="1" dirty="0"/>
            </a:br>
            <a:r>
              <a:rPr lang="en-US" sz="800" dirty="0" err="1"/>
              <a:t>sudo</a:t>
            </a:r>
            <a:r>
              <a:rPr lang="en-US" sz="800" dirty="0"/>
              <a:t> </a:t>
            </a:r>
            <a:r>
              <a:rPr lang="en-US" sz="800" dirty="0" err="1"/>
              <a:t>adduser</a:t>
            </a:r>
            <a:r>
              <a:rPr lang="en-US" sz="800" dirty="0"/>
              <a:t> ansible</a:t>
            </a:r>
            <a:br>
              <a:rPr lang="en-US" sz="800" dirty="0"/>
            </a:br>
            <a:r>
              <a:rPr lang="en-US" sz="800" dirty="0" err="1"/>
              <a:t>sudo</a:t>
            </a:r>
            <a:r>
              <a:rPr lang="en-US" sz="800" dirty="0"/>
              <a:t> </a:t>
            </a:r>
            <a:r>
              <a:rPr lang="en-US" sz="800" dirty="0" err="1"/>
              <a:t>usermod</a:t>
            </a:r>
            <a:r>
              <a:rPr lang="en-US" sz="800" dirty="0"/>
              <a:t> -</a:t>
            </a:r>
            <a:r>
              <a:rPr lang="en-US" sz="800" dirty="0" err="1"/>
              <a:t>aG</a:t>
            </a:r>
            <a:r>
              <a:rPr lang="en-US" sz="800" dirty="0"/>
              <a:t> </a:t>
            </a:r>
            <a:r>
              <a:rPr lang="en-US" sz="800" dirty="0" err="1"/>
              <a:t>sudo</a:t>
            </a:r>
            <a:r>
              <a:rPr lang="en-US" sz="800" dirty="0"/>
              <a:t> ansible</a:t>
            </a:r>
            <a:endParaRPr lang="ru-RU" sz="8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3FD3259-31EB-46D5-A18E-B3F3BDA8B8F7}"/>
              </a:ext>
            </a:extLst>
          </p:cNvPr>
          <p:cNvSpPr/>
          <p:nvPr/>
        </p:nvSpPr>
        <p:spPr>
          <a:xfrm>
            <a:off x="500550" y="2571750"/>
            <a:ext cx="4572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800" b="1" dirty="0"/>
              <a:t>#</a:t>
            </a:r>
            <a:r>
              <a:rPr lang="ru-RU" sz="800" b="1" dirty="0"/>
              <a:t>Настройка Ansible Control Node</a:t>
            </a:r>
            <a:r>
              <a:rPr lang="en-US" sz="800" b="1" dirty="0"/>
              <a:t> </a:t>
            </a:r>
            <a:r>
              <a:rPr lang="ru-RU" sz="800" b="1" dirty="0"/>
              <a:t>на</a:t>
            </a:r>
            <a:r>
              <a:rPr lang="en-US" sz="800" b="1" dirty="0"/>
              <a:t> </a:t>
            </a:r>
            <a:r>
              <a:rPr lang="ru-RU" sz="800" b="1" dirty="0"/>
              <a:t>srv-mon-01</a:t>
            </a:r>
            <a:br>
              <a:rPr lang="en-US" sz="800" b="1" dirty="0"/>
            </a:br>
            <a:r>
              <a:rPr lang="en-US" sz="800" dirty="0" err="1"/>
              <a:t>sudo</a:t>
            </a:r>
            <a:r>
              <a:rPr lang="en-US" sz="800" dirty="0"/>
              <a:t> apt update</a:t>
            </a:r>
            <a:br>
              <a:rPr lang="en-US" sz="800" dirty="0"/>
            </a:br>
            <a:r>
              <a:rPr lang="en-US" sz="800" dirty="0" err="1"/>
              <a:t>sudo</a:t>
            </a:r>
            <a:r>
              <a:rPr lang="en-US" sz="800" dirty="0"/>
              <a:t> apt install -y software-properties-common</a:t>
            </a:r>
            <a:br>
              <a:rPr lang="en-US" sz="800" dirty="0"/>
            </a:br>
            <a:r>
              <a:rPr lang="en-US" sz="800" dirty="0" err="1"/>
              <a:t>sudo</a:t>
            </a:r>
            <a:r>
              <a:rPr lang="en-US" sz="800" dirty="0"/>
              <a:t> add-apt-repository --yes --update </a:t>
            </a:r>
            <a:r>
              <a:rPr lang="en-US" sz="800" dirty="0" err="1"/>
              <a:t>ppa:ansible</a:t>
            </a:r>
            <a:r>
              <a:rPr lang="en-US" sz="800" dirty="0"/>
              <a:t>/ansible</a:t>
            </a:r>
            <a:br>
              <a:rPr lang="en-US" sz="800" dirty="0"/>
            </a:br>
            <a:r>
              <a:rPr lang="en-US" sz="800" dirty="0" err="1"/>
              <a:t>sudo</a:t>
            </a:r>
            <a:r>
              <a:rPr lang="en-US" sz="800" dirty="0"/>
              <a:t> apt install -y ansible git</a:t>
            </a:r>
            <a:endParaRPr lang="ru-RU" sz="800" dirty="0"/>
          </a:p>
          <a:p>
            <a:endParaRPr lang="ru-RU" sz="800" dirty="0"/>
          </a:p>
          <a:p>
            <a:r>
              <a:rPr lang="ru-RU" sz="800" b="1" dirty="0"/>
              <a:t>#Проверка версии</a:t>
            </a:r>
            <a:br>
              <a:rPr lang="ru-RU" sz="800" b="1" dirty="0"/>
            </a:br>
            <a:r>
              <a:rPr lang="en-US" sz="800" dirty="0"/>
              <a:t>ansible</a:t>
            </a:r>
            <a:r>
              <a:rPr lang="ru-RU" sz="800" dirty="0"/>
              <a:t> –</a:t>
            </a:r>
            <a:r>
              <a:rPr lang="en-US" sz="800" dirty="0"/>
              <a:t>version</a:t>
            </a:r>
            <a:endParaRPr lang="ru-RU" sz="800" dirty="0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390EF6B1-D9B8-4F95-B7D6-74866E9905F2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00550" y="3702499"/>
            <a:ext cx="5694680" cy="9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746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Что получилось</a:t>
            </a:r>
            <a:r>
              <a:rPr lang="en-US" sz="3000" dirty="0"/>
              <a:t> #</a:t>
            </a:r>
            <a:r>
              <a:rPr lang="ru-RU" sz="3000" dirty="0"/>
              <a:t>3</a:t>
            </a:r>
            <a:endParaRPr sz="30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91E783D-728C-459C-9737-2BA691FB33A7}"/>
              </a:ext>
            </a:extLst>
          </p:cNvPr>
          <p:cNvSpPr/>
          <p:nvPr/>
        </p:nvSpPr>
        <p:spPr>
          <a:xfrm>
            <a:off x="500550" y="1187680"/>
            <a:ext cx="4572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800" b="1" dirty="0"/>
              <a:t>#Генерация ключа</a:t>
            </a:r>
            <a:br>
              <a:rPr lang="ru-RU" sz="800" b="1" dirty="0"/>
            </a:br>
            <a:r>
              <a:rPr lang="en-US" sz="800" dirty="0" err="1"/>
              <a:t>sudo</a:t>
            </a:r>
            <a:r>
              <a:rPr lang="en-US" sz="800" dirty="0"/>
              <a:t> </a:t>
            </a:r>
            <a:r>
              <a:rPr lang="en-US" sz="800" dirty="0" err="1"/>
              <a:t>ssh</a:t>
            </a:r>
            <a:r>
              <a:rPr lang="ru-RU" sz="800" dirty="0"/>
              <a:t>-</a:t>
            </a:r>
            <a:r>
              <a:rPr lang="en-US" sz="800" dirty="0"/>
              <a:t>keygen</a:t>
            </a:r>
            <a:r>
              <a:rPr lang="ru-RU" sz="800" dirty="0"/>
              <a:t> -</a:t>
            </a:r>
            <a:r>
              <a:rPr lang="en-US" sz="800" dirty="0"/>
              <a:t>t ed</a:t>
            </a:r>
            <a:r>
              <a:rPr lang="ru-RU" sz="800" dirty="0"/>
              <a:t>25519 -</a:t>
            </a:r>
            <a:r>
              <a:rPr lang="en-US" sz="800" dirty="0"/>
              <a:t>C</a:t>
            </a:r>
            <a:r>
              <a:rPr lang="ru-RU" sz="800" dirty="0"/>
              <a:t> "</a:t>
            </a:r>
            <a:r>
              <a:rPr lang="en-US" sz="800" dirty="0"/>
              <a:t>ansible</a:t>
            </a:r>
            <a:r>
              <a:rPr lang="ru-RU" sz="800" dirty="0"/>
              <a:t>@</a:t>
            </a:r>
            <a:r>
              <a:rPr lang="en-US" sz="800" dirty="0"/>
              <a:t>control</a:t>
            </a:r>
            <a:r>
              <a:rPr lang="ru-RU" sz="800" dirty="0"/>
              <a:t>"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E4CA430-74A5-4BB8-840E-B93DA16C8AC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82613" y="1526234"/>
            <a:ext cx="3303588" cy="1788466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70A117B-E08B-4F78-BFC2-F4C40598FAC2}"/>
              </a:ext>
            </a:extLst>
          </p:cNvPr>
          <p:cNvSpPr/>
          <p:nvPr/>
        </p:nvSpPr>
        <p:spPr>
          <a:xfrm>
            <a:off x="479913" y="3439130"/>
            <a:ext cx="5130800" cy="1373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#Копируем ключи на хосты</a:t>
            </a:r>
            <a:br>
              <a:rPr lang="ru-RU" sz="8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8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sudo</a:t>
            </a:r>
            <a:r>
              <a:rPr lang="en-US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8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ssh</a:t>
            </a:r>
            <a:r>
              <a:rPr lang="ru-RU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copy</a:t>
            </a:r>
            <a:r>
              <a:rPr lang="ru-RU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 ansible</a:t>
            </a:r>
            <a:r>
              <a:rPr lang="ru-RU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@</a:t>
            </a:r>
            <a:r>
              <a:rPr lang="en-US" sz="8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srv</a:t>
            </a:r>
            <a:r>
              <a:rPr lang="ru-RU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8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</a:t>
            </a:r>
            <a:r>
              <a:rPr lang="ru-RU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-01</a:t>
            </a:r>
            <a:br>
              <a:rPr lang="ru-RU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8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sudo</a:t>
            </a:r>
            <a:r>
              <a:rPr lang="en-US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8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ssh</a:t>
            </a:r>
            <a:r>
              <a:rPr lang="ru-RU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copy</a:t>
            </a:r>
            <a:r>
              <a:rPr lang="ru-RU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 ansible</a:t>
            </a:r>
            <a:r>
              <a:rPr lang="ru-RU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@</a:t>
            </a:r>
            <a:r>
              <a:rPr lang="en-US" sz="8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srv</a:t>
            </a:r>
            <a:r>
              <a:rPr lang="ru-RU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8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</a:t>
            </a:r>
            <a:r>
              <a:rPr lang="ru-RU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-02</a:t>
            </a:r>
            <a:br>
              <a:rPr lang="ru-RU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8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sudo</a:t>
            </a:r>
            <a:r>
              <a:rPr lang="en-US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8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ssh</a:t>
            </a:r>
            <a:r>
              <a:rPr lang="ru-RU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copy</a:t>
            </a:r>
            <a:r>
              <a:rPr lang="ru-RU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 ansible</a:t>
            </a:r>
            <a:r>
              <a:rPr lang="ru-RU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@</a:t>
            </a:r>
            <a:r>
              <a:rPr lang="en-US" sz="8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srv</a:t>
            </a:r>
            <a:r>
              <a:rPr lang="ru-RU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8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db</a:t>
            </a:r>
            <a:r>
              <a:rPr lang="ru-RU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-01</a:t>
            </a:r>
            <a:br>
              <a:rPr lang="ru-RU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8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sudo</a:t>
            </a:r>
            <a:r>
              <a:rPr lang="en-US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8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ssh</a:t>
            </a:r>
            <a:r>
              <a:rPr lang="ru-RU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copy</a:t>
            </a:r>
            <a:r>
              <a:rPr lang="ru-RU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 ansible</a:t>
            </a:r>
            <a:r>
              <a:rPr lang="ru-RU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@</a:t>
            </a:r>
            <a:r>
              <a:rPr lang="en-US" sz="8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srv</a:t>
            </a:r>
            <a:r>
              <a:rPr lang="ru-RU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</a:t>
            </a:r>
            <a:r>
              <a:rPr lang="ru-RU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-01</a:t>
            </a:r>
            <a:br>
              <a:rPr lang="ru-RU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8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sudo</a:t>
            </a:r>
            <a:r>
              <a:rPr lang="en-US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8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ssh</a:t>
            </a:r>
            <a:r>
              <a:rPr lang="ru-RU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copy</a:t>
            </a:r>
            <a:r>
              <a:rPr lang="ru-RU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 ansible</a:t>
            </a:r>
            <a:r>
              <a:rPr lang="ru-RU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@</a:t>
            </a:r>
            <a:r>
              <a:rPr lang="en-US" sz="8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srv</a:t>
            </a:r>
            <a:r>
              <a:rPr lang="ru-RU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</a:t>
            </a:r>
            <a:r>
              <a:rPr lang="ru-RU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-01</a:t>
            </a:r>
            <a:endParaRPr lang="ru-RU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8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</a:t>
            </a:r>
            <a:r>
              <a:rPr lang="ru-RU" sz="8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Копируем репозиторий</a:t>
            </a:r>
            <a:br>
              <a:rPr lang="en-US" sz="8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git clone </a:t>
            </a:r>
            <a:r>
              <a:rPr lang="en-US" sz="800" u="sng" dirty="0">
                <a:solidFill>
                  <a:srgbClr val="0563C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https://github.com/dbaurus/clickhouse-data-pipeline</a:t>
            </a:r>
            <a:br>
              <a:rPr lang="en-US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cd </a:t>
            </a:r>
            <a:r>
              <a:rPr lang="en-US" sz="8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clickhouse</a:t>
            </a:r>
            <a:r>
              <a:rPr lang="en-US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-data-pipeline</a:t>
            </a:r>
            <a:endParaRPr lang="ru-RU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A2BCE84-3D11-49F4-9C73-BE6D81220245}"/>
              </a:ext>
            </a:extLst>
          </p:cNvPr>
          <p:cNvSpPr/>
          <p:nvPr/>
        </p:nvSpPr>
        <p:spPr>
          <a:xfrm>
            <a:off x="4449150" y="1182389"/>
            <a:ext cx="4572000" cy="34913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8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</a:t>
            </a:r>
            <a:r>
              <a:rPr lang="ru-RU" sz="8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Проверка доступности</a:t>
            </a:r>
            <a:br>
              <a:rPr lang="en-US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8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sudo</a:t>
            </a:r>
            <a:r>
              <a:rPr lang="en-US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ansible all -</a:t>
            </a:r>
            <a:r>
              <a:rPr lang="en-US" sz="8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ansible/inventory.ini -m ping</a:t>
            </a:r>
            <a:endParaRPr lang="ru-RU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0A05A4A-76E6-4307-AF42-8D8434BA9978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4519000" y="1519218"/>
            <a:ext cx="4288450" cy="1795481"/>
          </a:xfrm>
          <a:prstGeom prst="rect">
            <a:avLst/>
          </a:prstGeom>
        </p:spPr>
      </p:pic>
      <p:pic>
        <p:nvPicPr>
          <p:cNvPr id="11" name="Google Shape;340;p50">
            <a:extLst>
              <a:ext uri="{FF2B5EF4-FFF2-40B4-BE49-F238E27FC236}">
                <a16:creationId xmlns:a16="http://schemas.microsoft.com/office/drawing/2014/main" id="{C978AC54-7957-4718-B888-4B0649B56977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46600" y="3618005"/>
            <a:ext cx="2895650" cy="1020530"/>
          </a:xfrm>
          <a:prstGeom prst="rect">
            <a:avLst/>
          </a:prstGeom>
          <a:noFill/>
          <a:ln>
            <a:noFill/>
          </a:ln>
          <a:effectLst>
            <a:outerShdw blurRad="114300" dist="19050" dir="5880000" algn="bl" rotWithShape="0">
              <a:srgbClr val="000000">
                <a:alpha val="40000"/>
              </a:srgbClr>
            </a:outerShdw>
          </a:effec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5F4C377-CD88-441F-9A77-F23D3902E8D7}"/>
              </a:ext>
            </a:extLst>
          </p:cNvPr>
          <p:cNvSpPr/>
          <p:nvPr/>
        </p:nvSpPr>
        <p:spPr>
          <a:xfrm>
            <a:off x="5455706" y="3807222"/>
            <a:ext cx="21611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ru-RU" dirty="0"/>
              <a:t>Ansible Control Node</a:t>
            </a:r>
          </a:p>
          <a:p>
            <a:pPr lvl="0" algn="ctr"/>
            <a:r>
              <a:rPr lang="ru-RU" dirty="0"/>
              <a:t>установлен и настроен </a:t>
            </a:r>
          </a:p>
        </p:txBody>
      </p:sp>
    </p:spTree>
    <p:extLst>
      <p:ext uri="{BB962C8B-B14F-4D97-AF65-F5344CB8AC3E}">
        <p14:creationId xmlns:p14="http://schemas.microsoft.com/office/powerpoint/2010/main" val="3953014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Что получилось </a:t>
            </a:r>
            <a:r>
              <a:rPr lang="en-US" sz="3000" dirty="0"/>
              <a:t>#4</a:t>
            </a:r>
            <a:endParaRPr sz="300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C4AE7FB-4D93-41E8-97B6-82A32049C5FB}"/>
              </a:ext>
            </a:extLst>
          </p:cNvPr>
          <p:cNvSpPr/>
          <p:nvPr/>
        </p:nvSpPr>
        <p:spPr>
          <a:xfrm>
            <a:off x="500550" y="1034962"/>
            <a:ext cx="4572000" cy="154677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800" b="1" dirty="0"/>
              <a:t>#</a:t>
            </a:r>
            <a:r>
              <a:rPr lang="ru-RU" sz="800" b="1" dirty="0"/>
              <a:t>Проверяем корректность синтаксиса</a:t>
            </a:r>
            <a:br>
              <a:rPr lang="ru-RU" sz="800" b="1" dirty="0"/>
            </a:br>
            <a:r>
              <a:rPr lang="en-US" sz="800" dirty="0"/>
              <a:t>ansible-playbook ansible/</a:t>
            </a:r>
            <a:r>
              <a:rPr lang="en-US" sz="800" dirty="0" err="1"/>
              <a:t>site.yml</a:t>
            </a:r>
            <a:r>
              <a:rPr lang="en-US" sz="800" dirty="0"/>
              <a:t> --syntax-check -</a:t>
            </a:r>
            <a:r>
              <a:rPr lang="en-US" sz="800" dirty="0" err="1"/>
              <a:t>i</a:t>
            </a:r>
            <a:r>
              <a:rPr lang="en-US" sz="800" dirty="0"/>
              <a:t> ansible/inventory.ini</a:t>
            </a:r>
            <a:br>
              <a:rPr lang="ru-RU" sz="800" dirty="0"/>
            </a:br>
            <a:endParaRPr lang="ru-RU" sz="800" dirty="0"/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800" dirty="0"/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800" b="1" dirty="0"/>
              <a:t>#</a:t>
            </a:r>
            <a:r>
              <a:rPr lang="ru-RU" sz="800" b="1" dirty="0"/>
              <a:t>Запуск </a:t>
            </a:r>
            <a:r>
              <a:rPr lang="ru-RU" sz="800" b="1" dirty="0" err="1"/>
              <a:t>плейбука</a:t>
            </a:r>
            <a:br>
              <a:rPr lang="ru-RU" sz="800" b="1" dirty="0"/>
            </a:br>
            <a:r>
              <a:rPr lang="en-US" sz="800" dirty="0" err="1"/>
              <a:t>sudo</a:t>
            </a:r>
            <a:r>
              <a:rPr lang="en-US" sz="800" dirty="0"/>
              <a:t> ansible-playbook -</a:t>
            </a:r>
            <a:r>
              <a:rPr lang="en-US" sz="800" dirty="0" err="1"/>
              <a:t>i</a:t>
            </a:r>
            <a:r>
              <a:rPr lang="en-US" sz="800" dirty="0"/>
              <a:t> ansible/inventory.ini ansible/</a:t>
            </a:r>
            <a:r>
              <a:rPr lang="en-US" sz="800" dirty="0" err="1"/>
              <a:t>site.yml</a:t>
            </a:r>
            <a:r>
              <a:rPr lang="en-US" sz="800" dirty="0"/>
              <a:t> --ask-become-pass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800" dirty="0"/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8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E7FD389-9B6A-438E-8E66-436EE373E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642" y="1378388"/>
            <a:ext cx="6292955" cy="296899"/>
          </a:xfrm>
          <a:prstGeom prst="rect">
            <a:avLst/>
          </a:prstGeom>
        </p:spPr>
      </p:pic>
      <p:pic>
        <p:nvPicPr>
          <p:cNvPr id="11" name="Google Shape;340;p50">
            <a:extLst>
              <a:ext uri="{FF2B5EF4-FFF2-40B4-BE49-F238E27FC236}">
                <a16:creationId xmlns:a16="http://schemas.microsoft.com/office/drawing/2014/main" id="{346631E3-8292-432F-89FB-BAEF12FD386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6857" y="3605734"/>
            <a:ext cx="2895650" cy="1020530"/>
          </a:xfrm>
          <a:prstGeom prst="rect">
            <a:avLst/>
          </a:prstGeom>
          <a:noFill/>
          <a:ln>
            <a:noFill/>
          </a:ln>
          <a:effectLst>
            <a:outerShdw blurRad="114300" dist="19050" dir="5880000" algn="bl" rotWithShape="0">
              <a:srgbClr val="000000">
                <a:alpha val="40000"/>
              </a:srgbClr>
            </a:outerShdw>
          </a:effectLst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1357CCB-9C9D-48E4-B11A-BE7B9D800100}"/>
              </a:ext>
            </a:extLst>
          </p:cNvPr>
          <p:cNvSpPr/>
          <p:nvPr/>
        </p:nvSpPr>
        <p:spPr>
          <a:xfrm>
            <a:off x="5806365" y="3682602"/>
            <a:ext cx="2029442" cy="7671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/>
              <a:t>На хосты установлены требуемые системы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B3990A3-662A-46F3-89D1-0185A5C2C9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642" y="2117015"/>
            <a:ext cx="6292955" cy="709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754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Что получилось </a:t>
            </a:r>
            <a:r>
              <a:rPr lang="en-US" sz="3000" dirty="0"/>
              <a:t>#</a:t>
            </a:r>
            <a:r>
              <a:rPr lang="ru-RU" sz="3000" dirty="0"/>
              <a:t>5</a:t>
            </a:r>
            <a:endParaRPr sz="300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C4AE7FB-4D93-41E8-97B6-82A32049C5FB}"/>
              </a:ext>
            </a:extLst>
          </p:cNvPr>
          <p:cNvSpPr/>
          <p:nvPr/>
        </p:nvSpPr>
        <p:spPr>
          <a:xfrm>
            <a:off x="500550" y="1014977"/>
            <a:ext cx="4572000" cy="106529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800" b="1" dirty="0"/>
              <a:t>#</a:t>
            </a:r>
            <a:r>
              <a:rPr lang="ru-RU" sz="800" b="1" dirty="0"/>
              <a:t> </a:t>
            </a:r>
            <a:r>
              <a:rPr lang="en-US" sz="800" b="1" dirty="0"/>
              <a:t>ClickHouse</a:t>
            </a:r>
            <a:endParaRPr lang="ru-RU" sz="800" b="1" dirty="0"/>
          </a:p>
          <a:p>
            <a:r>
              <a:rPr lang="ru-RU" sz="800" dirty="0">
                <a:solidFill>
                  <a:schemeClr val="tx1"/>
                </a:solidFill>
              </a:rPr>
              <a:t>В связи с тем что Airbyte не умеет напрямую работать с кластеризованными таблицами ClickHouse. </a:t>
            </a:r>
            <a:br>
              <a:rPr lang="ru-RU" sz="800" dirty="0">
                <a:solidFill>
                  <a:schemeClr val="tx1"/>
                </a:solidFill>
              </a:rPr>
            </a:br>
            <a:r>
              <a:rPr lang="ru-RU" sz="800" dirty="0">
                <a:solidFill>
                  <a:schemeClr val="tx1"/>
                </a:solidFill>
              </a:rPr>
              <a:t>Была создана таблица </a:t>
            </a:r>
            <a:r>
              <a:rPr lang="en-US" sz="800" dirty="0">
                <a:solidFill>
                  <a:schemeClr val="tx1"/>
                </a:solidFill>
              </a:rPr>
              <a:t>orders</a:t>
            </a:r>
            <a:r>
              <a:rPr lang="ru-RU" sz="800" dirty="0">
                <a:solidFill>
                  <a:schemeClr val="tx1"/>
                </a:solidFill>
              </a:rPr>
              <a:t> в кластере с дополнительными столбцами. Тем самым решаем вопрос с репликацией при использовании Airbyte.</a:t>
            </a:r>
            <a:br>
              <a:rPr lang="ru-RU" sz="800" dirty="0">
                <a:solidFill>
                  <a:schemeClr val="tx1"/>
                </a:solidFill>
              </a:rPr>
            </a:br>
            <a:br>
              <a:rPr lang="ru-RU" sz="800" dirty="0">
                <a:solidFill>
                  <a:schemeClr val="tx1"/>
                </a:solidFill>
              </a:rPr>
            </a:br>
            <a:endParaRPr lang="ru-RU" sz="800" dirty="0">
              <a:solidFill>
                <a:srgbClr val="00B0F0"/>
              </a:solidFill>
            </a:endParaRPr>
          </a:p>
        </p:txBody>
      </p:sp>
      <p:pic>
        <p:nvPicPr>
          <p:cNvPr id="11" name="Google Shape;340;p50">
            <a:extLst>
              <a:ext uri="{FF2B5EF4-FFF2-40B4-BE49-F238E27FC236}">
                <a16:creationId xmlns:a16="http://schemas.microsoft.com/office/drawing/2014/main" id="{346631E3-8292-432F-89FB-BAEF12FD386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0390" y="3944782"/>
            <a:ext cx="2895650" cy="1020530"/>
          </a:xfrm>
          <a:prstGeom prst="rect">
            <a:avLst/>
          </a:prstGeom>
          <a:noFill/>
          <a:ln>
            <a:noFill/>
          </a:ln>
          <a:effectLst>
            <a:outerShdw blurRad="114300" dist="19050" dir="5880000" algn="bl" rotWithShape="0">
              <a:srgbClr val="000000">
                <a:alpha val="40000"/>
              </a:srgbClr>
            </a:outerShdw>
          </a:effectLst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1357CCB-9C9D-48E4-B11A-BE7B9D800100}"/>
              </a:ext>
            </a:extLst>
          </p:cNvPr>
          <p:cNvSpPr/>
          <p:nvPr/>
        </p:nvSpPr>
        <p:spPr>
          <a:xfrm>
            <a:off x="5646178" y="4087109"/>
            <a:ext cx="2029442" cy="5366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/>
              <a:t>Построен кластер </a:t>
            </a:r>
            <a:r>
              <a:rPr lang="en-US" dirty="0"/>
              <a:t>CH </a:t>
            </a:r>
            <a:r>
              <a:rPr lang="ru-RU" dirty="0"/>
              <a:t>1 шард, 2 реплики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114A674-D16A-4540-BEF7-C3FFCDB76F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294" y="1899205"/>
            <a:ext cx="5149410" cy="1572996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C688A000-320E-4901-97A8-E38EC86755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6598" y="1568044"/>
            <a:ext cx="2759225" cy="2046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863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Что получилось </a:t>
            </a:r>
            <a:r>
              <a:rPr lang="en-US" sz="3000" dirty="0"/>
              <a:t>#6</a:t>
            </a:r>
            <a:endParaRPr sz="300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C4AE7FB-4D93-41E8-97B6-82A32049C5FB}"/>
              </a:ext>
            </a:extLst>
          </p:cNvPr>
          <p:cNvSpPr/>
          <p:nvPr/>
        </p:nvSpPr>
        <p:spPr>
          <a:xfrm>
            <a:off x="500550" y="1034962"/>
            <a:ext cx="4071450" cy="477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800" b="1" dirty="0"/>
              <a:t>#PostgreSQL</a:t>
            </a:r>
            <a:r>
              <a:rPr lang="ru-RU" sz="800" b="1" dirty="0"/>
              <a:t> – </a:t>
            </a:r>
            <a:r>
              <a:rPr lang="en-US" sz="800" b="1" dirty="0"/>
              <a:t>srv-db-01</a:t>
            </a:r>
            <a:br>
              <a:rPr lang="en-US" sz="800" b="1" dirty="0"/>
            </a:br>
            <a:r>
              <a:rPr lang="ru-RU" sz="800" dirty="0"/>
              <a:t>После установки СУБД запускается скрипт который генерирует </a:t>
            </a:r>
            <a:r>
              <a:rPr lang="en-US" sz="800" dirty="0"/>
              <a:t>10000 </a:t>
            </a:r>
            <a:r>
              <a:rPr lang="ru-RU" sz="800" dirty="0"/>
              <a:t>строк в таблице </a:t>
            </a:r>
            <a:r>
              <a:rPr lang="en-US" sz="800" b="1" dirty="0" err="1"/>
              <a:t>public.orders</a:t>
            </a:r>
            <a:r>
              <a:rPr lang="en-US" sz="800" b="1" dirty="0"/>
              <a:t> </a:t>
            </a:r>
            <a:r>
              <a:rPr lang="en-US" sz="800" dirty="0"/>
              <a:t>c </a:t>
            </a:r>
            <a:r>
              <a:rPr lang="ru-RU" sz="800" dirty="0"/>
              <a:t>различными заказами.</a:t>
            </a:r>
            <a:endParaRPr lang="en-US" sz="8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1" name="Google Shape;340;p50">
            <a:extLst>
              <a:ext uri="{FF2B5EF4-FFF2-40B4-BE49-F238E27FC236}">
                <a16:creationId xmlns:a16="http://schemas.microsoft.com/office/drawing/2014/main" id="{346631E3-8292-432F-89FB-BAEF12FD386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3578" y="3682602"/>
            <a:ext cx="2895650" cy="1020530"/>
          </a:xfrm>
          <a:prstGeom prst="rect">
            <a:avLst/>
          </a:prstGeom>
          <a:noFill/>
          <a:ln>
            <a:noFill/>
          </a:ln>
          <a:effectLst>
            <a:outerShdw blurRad="114300" dist="19050" dir="5880000" algn="bl" rotWithShape="0">
              <a:srgbClr val="000000">
                <a:alpha val="40000"/>
              </a:srgbClr>
            </a:outerShdw>
          </a:effectLst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1357CCB-9C9D-48E4-B11A-BE7B9D800100}"/>
              </a:ext>
            </a:extLst>
          </p:cNvPr>
          <p:cNvSpPr/>
          <p:nvPr/>
        </p:nvSpPr>
        <p:spPr>
          <a:xfrm>
            <a:off x="5812715" y="3758802"/>
            <a:ext cx="2029442" cy="7671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/>
              <a:t>Настроена БД </a:t>
            </a:r>
            <a:r>
              <a:rPr lang="en-US" dirty="0"/>
              <a:t>PostgreSQL. </a:t>
            </a:r>
            <a:r>
              <a:rPr lang="ru-RU" dirty="0"/>
              <a:t>Данные сгенерированы.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BFF5613-91A4-49B0-9266-F2BFAFAB08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9650" y="1940015"/>
            <a:ext cx="3853590" cy="118712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03F42BF-46BB-4EA3-8915-7E3AEBD50D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551" y="1591245"/>
            <a:ext cx="3944449" cy="2167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040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Что получилось </a:t>
            </a:r>
            <a:r>
              <a:rPr lang="en-US" sz="3000" dirty="0"/>
              <a:t>#7</a:t>
            </a:r>
            <a:endParaRPr sz="300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C4AE7FB-4D93-41E8-97B6-82A32049C5FB}"/>
              </a:ext>
            </a:extLst>
          </p:cNvPr>
          <p:cNvSpPr/>
          <p:nvPr/>
        </p:nvSpPr>
        <p:spPr>
          <a:xfrm>
            <a:off x="500550" y="1034962"/>
            <a:ext cx="3925400" cy="843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800" b="1" dirty="0"/>
              <a:t>#Airbyte</a:t>
            </a:r>
            <a:br>
              <a:rPr lang="en-US" sz="800" b="1" dirty="0"/>
            </a:br>
            <a:r>
              <a:rPr lang="en-US" sz="800" b="1" dirty="0">
                <a:solidFill>
                  <a:schemeClr val="accent1">
                    <a:lumMod val="75000"/>
                  </a:schemeClr>
                </a:solidFill>
                <a:hlinkClick r:id="rId3"/>
              </a:rPr>
              <a:t>http://srv-ab-01:8000/</a:t>
            </a:r>
            <a:endParaRPr lang="ru-RU" sz="800" b="1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" dirty="0">
                <a:solidFill>
                  <a:schemeClr val="tx1"/>
                </a:solidFill>
              </a:rPr>
              <a:t>Настроено подключение</a:t>
            </a:r>
            <a:r>
              <a:rPr lang="en-US" sz="800" dirty="0">
                <a:solidFill>
                  <a:schemeClr val="tx1"/>
                </a:solidFill>
              </a:rPr>
              <a:t>:</a:t>
            </a:r>
            <a:br>
              <a:rPr lang="en-US" sz="800" dirty="0">
                <a:solidFill>
                  <a:schemeClr val="tx1"/>
                </a:solidFill>
              </a:rPr>
            </a:br>
            <a:r>
              <a:rPr lang="en-US" sz="800" dirty="0">
                <a:solidFill>
                  <a:schemeClr val="tx1"/>
                </a:solidFill>
              </a:rPr>
              <a:t>srv-db-01 -&gt; srv-ch-01 </a:t>
            </a:r>
            <a:r>
              <a:rPr lang="ru-RU" sz="800" dirty="0">
                <a:solidFill>
                  <a:schemeClr val="tx1"/>
                </a:solidFill>
              </a:rPr>
              <a:t>с частотой обновления данных раз в час.</a:t>
            </a:r>
            <a:br>
              <a:rPr lang="en-US" sz="800" b="1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8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1" name="Google Shape;340;p50">
            <a:extLst>
              <a:ext uri="{FF2B5EF4-FFF2-40B4-BE49-F238E27FC236}">
                <a16:creationId xmlns:a16="http://schemas.microsoft.com/office/drawing/2014/main" id="{346631E3-8292-432F-89FB-BAEF12FD386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3578" y="3682602"/>
            <a:ext cx="2895650" cy="1020530"/>
          </a:xfrm>
          <a:prstGeom prst="rect">
            <a:avLst/>
          </a:prstGeom>
          <a:noFill/>
          <a:ln>
            <a:noFill/>
          </a:ln>
          <a:effectLst>
            <a:outerShdw blurRad="114300" dist="19050" dir="5880000" algn="bl" rotWithShape="0">
              <a:srgbClr val="000000">
                <a:alpha val="40000"/>
              </a:srgbClr>
            </a:outerShdw>
          </a:effectLst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1357CCB-9C9D-48E4-B11A-BE7B9D800100}"/>
              </a:ext>
            </a:extLst>
          </p:cNvPr>
          <p:cNvSpPr/>
          <p:nvPr/>
        </p:nvSpPr>
        <p:spPr>
          <a:xfrm>
            <a:off x="5806365" y="3682602"/>
            <a:ext cx="2029442" cy="99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/>
              <a:t>Настроена синхронизация между источниками и </a:t>
            </a:r>
            <a:r>
              <a:rPr lang="en-US" dirty="0"/>
              <a:t>ClickHouse</a:t>
            </a:r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2F25B4D-94A9-4472-8D00-6452B18CD5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953" y="1871132"/>
            <a:ext cx="6573548" cy="1725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513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Что получилось </a:t>
            </a:r>
            <a:r>
              <a:rPr lang="en-US" sz="3000" dirty="0"/>
              <a:t>#8</a:t>
            </a:r>
            <a:endParaRPr sz="300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C4AE7FB-4D93-41E8-97B6-82A32049C5FB}"/>
              </a:ext>
            </a:extLst>
          </p:cNvPr>
          <p:cNvSpPr/>
          <p:nvPr/>
        </p:nvSpPr>
        <p:spPr>
          <a:xfrm>
            <a:off x="500550" y="1034962"/>
            <a:ext cx="5195400" cy="1180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800" b="1" dirty="0"/>
              <a:t>#CSV</a:t>
            </a:r>
            <a:br>
              <a:rPr lang="en-US" sz="800" b="1" dirty="0"/>
            </a:br>
            <a:r>
              <a:rPr lang="ru-RU" sz="800" dirty="0"/>
              <a:t>В автоматическом режиме по крону происходит выгрузка данных </a:t>
            </a:r>
            <a:r>
              <a:rPr lang="en-US" sz="800" dirty="0"/>
              <a:t>srv-mon-01-&gt;.csv </a:t>
            </a:r>
            <a:r>
              <a:rPr lang="ru-RU" sz="800" dirty="0"/>
              <a:t>раз в сутки.</a:t>
            </a:r>
            <a:r>
              <a:rPr lang="en-US" sz="800" b="1" dirty="0"/>
              <a:t> </a:t>
            </a:r>
            <a:r>
              <a:rPr lang="ru-RU" sz="800" b="1" dirty="0"/>
              <a:t> </a:t>
            </a:r>
            <a:endParaRPr lang="en-US" sz="800" b="1" dirty="0"/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800" dirty="0">
                <a:solidFill>
                  <a:srgbClr val="00B0F0"/>
                </a:solidFill>
              </a:rPr>
              <a:t># m h  dom mon dow   command</a:t>
            </a:r>
            <a:br>
              <a:rPr lang="en-US" sz="800" dirty="0">
                <a:solidFill>
                  <a:srgbClr val="00B0F0"/>
                </a:solidFill>
              </a:rPr>
            </a:br>
            <a:r>
              <a:rPr lang="en-US" sz="800" dirty="0">
                <a:solidFill>
                  <a:srgbClr val="00B0F0"/>
                </a:solidFill>
              </a:rPr>
              <a:t>*/5 * * * * /home/k.frolov/clickhouse-data-pipeline/scripts/export_csv.sh &gt;&gt; /</a:t>
            </a:r>
            <a:r>
              <a:rPr lang="en-US" sz="800" dirty="0" err="1">
                <a:solidFill>
                  <a:srgbClr val="00B0F0"/>
                </a:solidFill>
              </a:rPr>
              <a:t>tmp</a:t>
            </a:r>
            <a:r>
              <a:rPr lang="en-US" sz="800" dirty="0">
                <a:solidFill>
                  <a:srgbClr val="00B0F0"/>
                </a:solidFill>
              </a:rPr>
              <a:t>/export_csv.log 2&gt;&amp;1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" dirty="0">
                <a:solidFill>
                  <a:schemeClr val="tx1"/>
                </a:solidFill>
              </a:rPr>
              <a:t>Результатом работы скрипта является файл с заказами выгруженными из</a:t>
            </a:r>
            <a:r>
              <a:rPr lang="en-US" sz="800" dirty="0">
                <a:solidFill>
                  <a:schemeClr val="tx1"/>
                </a:solidFill>
              </a:rPr>
              <a:t> ClickHouse: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800" dirty="0">
              <a:solidFill>
                <a:schemeClr val="tx1"/>
              </a:solidFill>
            </a:endParaRPr>
          </a:p>
        </p:txBody>
      </p:sp>
      <p:pic>
        <p:nvPicPr>
          <p:cNvPr id="11" name="Google Shape;340;p50">
            <a:extLst>
              <a:ext uri="{FF2B5EF4-FFF2-40B4-BE49-F238E27FC236}">
                <a16:creationId xmlns:a16="http://schemas.microsoft.com/office/drawing/2014/main" id="{346631E3-8292-432F-89FB-BAEF12FD386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3578" y="3682602"/>
            <a:ext cx="2895650" cy="1020530"/>
          </a:xfrm>
          <a:prstGeom prst="rect">
            <a:avLst/>
          </a:prstGeom>
          <a:noFill/>
          <a:ln>
            <a:noFill/>
          </a:ln>
          <a:effectLst>
            <a:outerShdw blurRad="114300" dist="19050" dir="5880000" algn="bl" rotWithShape="0">
              <a:srgbClr val="000000">
                <a:alpha val="40000"/>
              </a:srgbClr>
            </a:outerShdw>
          </a:effectLst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1357CCB-9C9D-48E4-B11A-BE7B9D800100}"/>
              </a:ext>
            </a:extLst>
          </p:cNvPr>
          <p:cNvSpPr/>
          <p:nvPr/>
        </p:nvSpPr>
        <p:spPr>
          <a:xfrm>
            <a:off x="5812715" y="3758802"/>
            <a:ext cx="2029442" cy="7671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/>
              <a:t>Настроена выгрузка данных из </a:t>
            </a:r>
            <a:r>
              <a:rPr lang="en-US" dirty="0"/>
              <a:t>ClickHouse</a:t>
            </a:r>
            <a:r>
              <a:rPr lang="ru-RU" dirty="0"/>
              <a:t> в </a:t>
            </a:r>
            <a:r>
              <a:rPr lang="en-US" dirty="0"/>
              <a:t>.csv</a:t>
            </a:r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822BB93-7DF5-4902-8572-18CA12C935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753" y="2020719"/>
            <a:ext cx="4613826" cy="216929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2CCE7F5-5F24-4EFF-9646-9F0F5F50CE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2750" y="2408633"/>
            <a:ext cx="3110091" cy="874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864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Что получилось </a:t>
            </a:r>
            <a:r>
              <a:rPr lang="en-US" sz="3000" dirty="0"/>
              <a:t>#9</a:t>
            </a:r>
            <a:endParaRPr sz="300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C4AE7FB-4D93-41E8-97B6-82A32049C5FB}"/>
              </a:ext>
            </a:extLst>
          </p:cNvPr>
          <p:cNvSpPr/>
          <p:nvPr/>
        </p:nvSpPr>
        <p:spPr>
          <a:xfrm>
            <a:off x="500550" y="1034962"/>
            <a:ext cx="5195400" cy="5804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800" b="1" dirty="0"/>
              <a:t>#Superset</a:t>
            </a:r>
            <a:br>
              <a:rPr lang="en-US" sz="800" b="1" dirty="0"/>
            </a:br>
            <a:r>
              <a:rPr lang="ru-RU" sz="800" dirty="0"/>
              <a:t>Данные из </a:t>
            </a:r>
            <a:r>
              <a:rPr lang="en-US" sz="800" dirty="0"/>
              <a:t>ClickHouse </a:t>
            </a:r>
            <a:r>
              <a:rPr lang="ru-RU" sz="800" dirty="0"/>
              <a:t>визуализированы с помощью </a:t>
            </a:r>
            <a:r>
              <a:rPr lang="en-US" sz="800" dirty="0"/>
              <a:t>Superset</a:t>
            </a:r>
            <a:endParaRPr lang="en-US" sz="800" dirty="0">
              <a:solidFill>
                <a:schemeClr val="tx1"/>
              </a:solidFill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800" dirty="0">
              <a:solidFill>
                <a:schemeClr val="tx1"/>
              </a:solidFill>
            </a:endParaRPr>
          </a:p>
        </p:txBody>
      </p:sp>
      <p:pic>
        <p:nvPicPr>
          <p:cNvPr id="11" name="Google Shape;340;p50">
            <a:extLst>
              <a:ext uri="{FF2B5EF4-FFF2-40B4-BE49-F238E27FC236}">
                <a16:creationId xmlns:a16="http://schemas.microsoft.com/office/drawing/2014/main" id="{346631E3-8292-432F-89FB-BAEF12FD386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5500" y="3792246"/>
            <a:ext cx="2895650" cy="1020530"/>
          </a:xfrm>
          <a:prstGeom prst="rect">
            <a:avLst/>
          </a:prstGeom>
          <a:noFill/>
          <a:ln>
            <a:noFill/>
          </a:ln>
          <a:effectLst>
            <a:outerShdw blurRad="114300" dist="19050" dir="5880000" algn="bl" rotWithShape="0">
              <a:srgbClr val="000000">
                <a:alpha val="40000"/>
              </a:srgbClr>
            </a:outerShdw>
          </a:effectLst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1357CCB-9C9D-48E4-B11A-BE7B9D800100}"/>
              </a:ext>
            </a:extLst>
          </p:cNvPr>
          <p:cNvSpPr/>
          <p:nvPr/>
        </p:nvSpPr>
        <p:spPr>
          <a:xfrm>
            <a:off x="6645454" y="3918944"/>
            <a:ext cx="2029442" cy="7671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/>
              <a:t>Настроена визуализация данных в</a:t>
            </a:r>
            <a:r>
              <a:rPr lang="en-US" dirty="0"/>
              <a:t> Superset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0CE216F-3BCA-47F0-A0EB-210F06D0F2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551" y="1384699"/>
            <a:ext cx="5798650" cy="254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614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/>
              <a:t>Выводы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graphicFrame>
        <p:nvGraphicFramePr>
          <p:cNvPr id="213" name="Google Shape;213;p42"/>
          <p:cNvGraphicFramePr/>
          <p:nvPr>
            <p:extLst>
              <p:ext uri="{D42A27DB-BD31-4B8C-83A1-F6EECF244321}">
                <p14:modId xmlns:p14="http://schemas.microsoft.com/office/powerpoint/2010/main" val="3313587851"/>
              </p:ext>
            </p:extLst>
          </p:nvPr>
        </p:nvGraphicFramePr>
        <p:xfrm>
          <a:off x="952500" y="1070979"/>
          <a:ext cx="7239000" cy="4299592"/>
        </p:xfrm>
        <a:graphic>
          <a:graphicData uri="http://schemas.openxmlformats.org/drawingml/2006/table">
            <a:tbl>
              <a:tblPr>
                <a:noFill/>
                <a:tableStyleId>{E8092599-3BE6-4749-9E42-993CAE0AD635}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Все поставленные цели проекта выполнены.</a:t>
                      </a: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Основные сложности были в процессе создания репозитория и </a:t>
                      </a:r>
                      <a:r>
                        <a:rPr lang="ru-RU" sz="1600" dirty="0" err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дебага</a:t>
                      </a: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ошибок при разворачивании. Например установка </a:t>
                      </a:r>
                      <a:r>
                        <a:rPr lang="en-US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Airbyte </a:t>
                      </a: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 </a:t>
                      </a:r>
                      <a:r>
                        <a:rPr lang="en-US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Docker</a:t>
                      </a: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далась не сразу. Были проблемы с драйверами </a:t>
                      </a:r>
                      <a:r>
                        <a:rPr lang="en-US" sz="1600" dirty="0" err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Dbeaver</a:t>
                      </a:r>
                      <a:r>
                        <a:rPr lang="en-US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6. 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Выполнение проекта заняло около 20 часов.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Проект вобрал в себя большое количество знаний которое было получено на обучении. Всё что я узнал было полезно и нашло своё применение. Оценка 10.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Вопросов не осталось.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 планах разобраться с продуктивным контуром, повторить его на тесте. Что бы понимать все тонкости работы архитектуры и отказаться от платной поддержки. </a:t>
                      </a: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Google Shape;319;p49">
            <a:extLst>
              <a:ext uri="{FF2B5EF4-FFF2-40B4-BE49-F238E27FC236}">
                <a16:creationId xmlns:a16="http://schemas.microsoft.com/office/drawing/2014/main" id="{D74EF054-2D11-49B9-9C4A-4E7B1375BEA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8560" y="3144365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72;p49">
            <a:extLst>
              <a:ext uri="{FF2B5EF4-FFF2-40B4-BE49-F238E27FC236}">
                <a16:creationId xmlns:a16="http://schemas.microsoft.com/office/drawing/2014/main" id="{78E903CB-A69C-4ADB-850D-3EEDCFB2343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8902" y="2496047"/>
            <a:ext cx="588135" cy="58813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267;p49">
            <a:extLst>
              <a:ext uri="{FF2B5EF4-FFF2-40B4-BE49-F238E27FC236}">
                <a16:creationId xmlns:a16="http://schemas.microsoft.com/office/drawing/2014/main" id="{A9C1FE54-CA6D-49C9-B6CA-39ED0D6B0A60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89218" y="1028470"/>
            <a:ext cx="424366" cy="424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314;p49">
            <a:extLst>
              <a:ext uri="{FF2B5EF4-FFF2-40B4-BE49-F238E27FC236}">
                <a16:creationId xmlns:a16="http://schemas.microsoft.com/office/drawing/2014/main" id="{180607E9-B746-4933-A24C-5C2EBDFE27EB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38560" y="1693997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301;p49">
            <a:extLst>
              <a:ext uri="{FF2B5EF4-FFF2-40B4-BE49-F238E27FC236}">
                <a16:creationId xmlns:a16="http://schemas.microsoft.com/office/drawing/2014/main" id="{B734E5A7-E832-4D61-9620-E9BF0D5A7D72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345145" y="4214460"/>
            <a:ext cx="495294" cy="495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303;p49">
            <a:extLst>
              <a:ext uri="{FF2B5EF4-FFF2-40B4-BE49-F238E27FC236}">
                <a16:creationId xmlns:a16="http://schemas.microsoft.com/office/drawing/2014/main" id="{FEA04D30-E86E-4502-8947-DC7EBB747A26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389218" y="3730955"/>
            <a:ext cx="384075" cy="38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3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43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43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43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43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27" name="Google Shape;227;p43"/>
          <p:cNvGrpSpPr/>
          <p:nvPr/>
        </p:nvGrpSpPr>
        <p:grpSpPr>
          <a:xfrm>
            <a:off x="5573613" y="528650"/>
            <a:ext cx="3356305" cy="1236599"/>
            <a:chOff x="4729635" y="887067"/>
            <a:chExt cx="3375207" cy="1399343"/>
          </a:xfrm>
        </p:grpSpPr>
        <p:pic>
          <p:nvPicPr>
            <p:cNvPr id="228" name="Google Shape;22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29635" y="887067"/>
              <a:ext cx="3375207" cy="1399343"/>
            </a:xfrm>
            <a:prstGeom prst="rect">
              <a:avLst/>
            </a:prstGeom>
            <a:noFill/>
            <a:ln>
              <a:noFill/>
            </a:ln>
            <a:effectLst>
              <a:outerShdw blurRad="200025" dist="28575" dir="4200000" algn="bl" rotWithShape="0">
                <a:srgbClr val="000000">
                  <a:alpha val="30000"/>
                </a:srgbClr>
              </a:outerShdw>
            </a:effectLst>
          </p:spPr>
        </p:pic>
        <p:sp>
          <p:nvSpPr>
            <p:cNvPr id="229" name="Google Shape;229;p43"/>
            <p:cNvSpPr txBox="1"/>
            <p:nvPr/>
          </p:nvSpPr>
          <p:spPr>
            <a:xfrm>
              <a:off x="5236901" y="1064135"/>
              <a:ext cx="2694600" cy="104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Ответьте на вопросы одногруппников и преподавателей и получите обратную связь на свою работу</a:t>
              </a:r>
              <a:endPara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>
            <a:spLocks noGrp="1"/>
          </p:cNvSpPr>
          <p:nvPr>
            <p:ph type="title" idx="4294967295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solidFill>
                  <a:schemeClr val="lt1"/>
                </a:solidFill>
              </a:rPr>
              <a:t>Спасибо за внимание!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236" name="Google Shape;236;p44" title="marker-graduating-c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5" title="ролик_об_отусе_blu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Инструменты для работы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с презентацией</a:t>
            </a:r>
            <a:endParaRPr/>
          </a:p>
        </p:txBody>
      </p:sp>
      <p:pic>
        <p:nvPicPr>
          <p:cNvPr id="247" name="Google Shape;24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075" y="430338"/>
            <a:ext cx="939325" cy="9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7"/>
          <p:cNvSpPr txBox="1"/>
          <p:nvPr/>
        </p:nvSpPr>
        <p:spPr>
          <a:xfrm>
            <a:off x="629988" y="691425"/>
            <a:ext cx="8423400" cy="3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500" b="1">
                <a:latin typeface="Roboto"/>
                <a:ea typeface="Roboto"/>
                <a:cs typeface="Roboto"/>
                <a:sym typeface="Roboto"/>
              </a:rPr>
              <a:t>1. Текст:</a:t>
            </a:r>
            <a:endParaRPr sz="1500" b="1"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«Одна мысль — один слайд»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Размещайте на каждом слайде до 5 строк текста, не более 5 слов в каждой строке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Выделяйте главные идеи с помощью размера и цвета шрифта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Используйте подзаголовки, если заголовок слишком длинный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Группируйте информацию в визуальные блоки</a:t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Делите большие текстовые блоки на колонки или списки</a:t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Используйте стрелки для обозначения последовательности информации </a:t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Чередуйте текстовые блоки с графическими элементами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 b="1">
                <a:latin typeface="Roboto"/>
                <a:ea typeface="Roboto"/>
                <a:cs typeface="Roboto"/>
                <a:sym typeface="Roboto"/>
              </a:rPr>
              <a:t>2. Используйте шрифт Roboto, кегль: заголовок – 25-30, подзаголовок –  17, </a:t>
            </a:r>
            <a:endParaRPr sz="1500" b="1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latin typeface="Roboto"/>
                <a:ea typeface="Roboto"/>
                <a:cs typeface="Roboto"/>
                <a:sym typeface="Roboto"/>
              </a:rPr>
              <a:t>основной текст – 15-12, межстрочный интервал 1,15</a:t>
            </a:r>
            <a:endParaRPr sz="1500" b="1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8"/>
          <p:cNvSpPr txBox="1"/>
          <p:nvPr/>
        </p:nvSpPr>
        <p:spPr>
          <a:xfrm>
            <a:off x="629988" y="781050"/>
            <a:ext cx="8423400" cy="21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3. Используйте нашу фирменную цветовую палитру (её найдете в следующем слайде) 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 Визуальные материалы: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Добавляйте релевантные изображения к текстовым блокам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Используйте иконки или эмодзи для визуализации ключевых пунктов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Используйте инфографику для визуализации сложной информации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</a:t>
            </a:r>
            <a:r>
              <a:rPr lang="ru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качественные изображения вы можете взять </a:t>
            </a:r>
            <a:r>
              <a:rPr lang="ru" b="1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в папке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8" name="Google Shape;258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675" y="2576650"/>
            <a:ext cx="348500" cy="34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1252" y="2724091"/>
            <a:ext cx="499512" cy="499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5266" y="583317"/>
            <a:ext cx="499512" cy="499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84266" y="2316545"/>
            <a:ext cx="555893" cy="555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71465" y="3774462"/>
            <a:ext cx="406292" cy="409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96919" y="3834697"/>
            <a:ext cx="424366" cy="424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4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57775" y="585425"/>
            <a:ext cx="495295" cy="495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4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94545" y="4262483"/>
            <a:ext cx="360144" cy="360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4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405173" y="3774462"/>
            <a:ext cx="406292" cy="409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4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701471" y="3985239"/>
            <a:ext cx="508703" cy="508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4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09009" y="539005"/>
            <a:ext cx="588135" cy="5881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4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530352" y="4433144"/>
            <a:ext cx="404216" cy="404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49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901362" y="561770"/>
            <a:ext cx="542605" cy="542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49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888594" y="2047748"/>
            <a:ext cx="436975" cy="43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49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14269" y="2047748"/>
            <a:ext cx="436975" cy="43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9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3054328" y="4448785"/>
            <a:ext cx="372935" cy="372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49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8237883" y="3979170"/>
            <a:ext cx="520847" cy="520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49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8207788" y="3288498"/>
            <a:ext cx="595986" cy="595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49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1190534" y="2047748"/>
            <a:ext cx="436975" cy="43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49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2172209" y="1391638"/>
            <a:ext cx="493512" cy="493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49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1150853" y="1403354"/>
            <a:ext cx="470080" cy="47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49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552077" y="4281498"/>
            <a:ext cx="537109" cy="53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49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519706" y="1355027"/>
            <a:ext cx="566735" cy="566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49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5187775" y="2316539"/>
            <a:ext cx="493249" cy="49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49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961355" y="2667110"/>
            <a:ext cx="588118" cy="588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49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7710770" y="3352476"/>
            <a:ext cx="468034" cy="468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49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5181495" y="2922709"/>
            <a:ext cx="493249" cy="493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49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2131524" y="2730594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49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>
            <a:off x="4009998" y="2316535"/>
            <a:ext cx="530079" cy="530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49"/>
          <p:cNvPicPr preferRelativeResize="0"/>
          <p:nvPr/>
        </p:nvPicPr>
        <p:blipFill>
          <a:blip r:embed="rId31">
            <a:alphaModFix/>
          </a:blip>
          <a:stretch>
            <a:fillRect/>
          </a:stretch>
        </p:blipFill>
        <p:spPr>
          <a:xfrm>
            <a:off x="544543" y="3704244"/>
            <a:ext cx="552178" cy="552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9"/>
          <p:cNvPicPr preferRelativeResize="0"/>
          <p:nvPr/>
        </p:nvPicPr>
        <p:blipFill>
          <a:blip r:embed="rId32">
            <a:alphaModFix/>
          </a:blip>
          <a:stretch>
            <a:fillRect/>
          </a:stretch>
        </p:blipFill>
        <p:spPr>
          <a:xfrm>
            <a:off x="1078633" y="3704244"/>
            <a:ext cx="552178" cy="552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49"/>
          <p:cNvPicPr preferRelativeResize="0"/>
          <p:nvPr/>
        </p:nvPicPr>
        <p:blipFill>
          <a:blip r:embed="rId33">
            <a:alphaModFix/>
          </a:blip>
          <a:stretch>
            <a:fillRect/>
          </a:stretch>
        </p:blipFill>
        <p:spPr>
          <a:xfrm>
            <a:off x="1053627" y="4248959"/>
            <a:ext cx="602188" cy="602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9"/>
          <p:cNvPicPr preferRelativeResize="0"/>
          <p:nvPr/>
        </p:nvPicPr>
        <p:blipFill>
          <a:blip r:embed="rId34">
            <a:alphaModFix/>
          </a:blip>
          <a:stretch>
            <a:fillRect/>
          </a:stretch>
        </p:blipFill>
        <p:spPr>
          <a:xfrm>
            <a:off x="469475" y="2745317"/>
            <a:ext cx="470090" cy="470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49"/>
          <p:cNvPicPr preferRelativeResize="0"/>
          <p:nvPr/>
        </p:nvPicPr>
        <p:blipFill>
          <a:blip r:embed="rId35">
            <a:alphaModFix/>
          </a:blip>
          <a:stretch>
            <a:fillRect/>
          </a:stretch>
        </p:blipFill>
        <p:spPr>
          <a:xfrm>
            <a:off x="2316972" y="556974"/>
            <a:ext cx="552197" cy="552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9"/>
          <p:cNvPicPr preferRelativeResize="0"/>
          <p:nvPr/>
        </p:nvPicPr>
        <p:blipFill>
          <a:blip r:embed="rId36">
            <a:alphaModFix/>
          </a:blip>
          <a:stretch>
            <a:fillRect/>
          </a:stretch>
        </p:blipFill>
        <p:spPr>
          <a:xfrm>
            <a:off x="4554831" y="2935266"/>
            <a:ext cx="504910" cy="504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49"/>
          <p:cNvPicPr preferRelativeResize="0"/>
          <p:nvPr/>
        </p:nvPicPr>
        <p:blipFill>
          <a:blip r:embed="rId37">
            <a:alphaModFix/>
          </a:blip>
          <a:stretch>
            <a:fillRect/>
          </a:stretch>
        </p:blipFill>
        <p:spPr>
          <a:xfrm>
            <a:off x="4022582" y="2935266"/>
            <a:ext cx="504910" cy="504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49"/>
          <p:cNvPicPr preferRelativeResize="0"/>
          <p:nvPr/>
        </p:nvPicPr>
        <p:blipFill>
          <a:blip r:embed="rId38">
            <a:alphaModFix/>
          </a:blip>
          <a:stretch>
            <a:fillRect/>
          </a:stretch>
        </p:blipFill>
        <p:spPr>
          <a:xfrm>
            <a:off x="4554831" y="2329119"/>
            <a:ext cx="504910" cy="504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49"/>
          <p:cNvPicPr preferRelativeResize="0"/>
          <p:nvPr/>
        </p:nvPicPr>
        <p:blipFill>
          <a:blip r:embed="rId39">
            <a:alphaModFix/>
          </a:blip>
          <a:stretch>
            <a:fillRect/>
          </a:stretch>
        </p:blipFill>
        <p:spPr>
          <a:xfrm>
            <a:off x="5663349" y="2901775"/>
            <a:ext cx="597725" cy="59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49"/>
          <p:cNvPicPr preferRelativeResize="0"/>
          <p:nvPr/>
        </p:nvPicPr>
        <p:blipFill>
          <a:blip r:embed="rId40">
            <a:alphaModFix/>
          </a:blip>
          <a:stretch>
            <a:fillRect/>
          </a:stretch>
        </p:blipFill>
        <p:spPr>
          <a:xfrm>
            <a:off x="1985334" y="3818550"/>
            <a:ext cx="456645" cy="456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49"/>
          <p:cNvPicPr preferRelativeResize="0"/>
          <p:nvPr/>
        </p:nvPicPr>
        <p:blipFill>
          <a:blip r:embed="rId41">
            <a:alphaModFix/>
          </a:blip>
          <a:stretch>
            <a:fillRect/>
          </a:stretch>
        </p:blipFill>
        <p:spPr>
          <a:xfrm>
            <a:off x="1434048" y="2018565"/>
            <a:ext cx="495294" cy="495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49"/>
          <p:cNvPicPr preferRelativeResize="0"/>
          <p:nvPr/>
        </p:nvPicPr>
        <p:blipFill>
          <a:blip r:embed="rId42">
            <a:alphaModFix/>
          </a:blip>
          <a:stretch>
            <a:fillRect/>
          </a:stretch>
        </p:blipFill>
        <p:spPr>
          <a:xfrm>
            <a:off x="1885178" y="2018565"/>
            <a:ext cx="495294" cy="495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49"/>
          <p:cNvPicPr preferRelativeResize="0"/>
          <p:nvPr/>
        </p:nvPicPr>
        <p:blipFill>
          <a:blip r:embed="rId43">
            <a:alphaModFix/>
          </a:blip>
          <a:stretch>
            <a:fillRect/>
          </a:stretch>
        </p:blipFill>
        <p:spPr>
          <a:xfrm>
            <a:off x="2026525" y="4443213"/>
            <a:ext cx="384075" cy="38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49"/>
          <p:cNvPicPr preferRelativeResize="0"/>
          <p:nvPr/>
        </p:nvPicPr>
        <p:blipFill>
          <a:blip r:embed="rId44">
            <a:alphaModFix/>
          </a:blip>
          <a:stretch>
            <a:fillRect/>
          </a:stretch>
        </p:blipFill>
        <p:spPr>
          <a:xfrm>
            <a:off x="2502160" y="3844766"/>
            <a:ext cx="404231" cy="404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49"/>
          <p:cNvPicPr preferRelativeResize="0"/>
          <p:nvPr/>
        </p:nvPicPr>
        <p:blipFill>
          <a:blip r:embed="rId45">
            <a:alphaModFix/>
          </a:blip>
          <a:stretch>
            <a:fillRect/>
          </a:stretch>
        </p:blipFill>
        <p:spPr>
          <a:xfrm>
            <a:off x="4375738" y="4226469"/>
            <a:ext cx="432222" cy="432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49"/>
          <p:cNvPicPr preferRelativeResize="0"/>
          <p:nvPr/>
        </p:nvPicPr>
        <p:blipFill>
          <a:blip r:embed="rId46">
            <a:alphaModFix/>
          </a:blip>
          <a:stretch>
            <a:fillRect/>
          </a:stretch>
        </p:blipFill>
        <p:spPr>
          <a:xfrm>
            <a:off x="3919814" y="3763353"/>
            <a:ext cx="432222" cy="432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49"/>
          <p:cNvPicPr preferRelativeResize="0"/>
          <p:nvPr/>
        </p:nvPicPr>
        <p:blipFill>
          <a:blip r:embed="rId47">
            <a:alphaModFix/>
          </a:blip>
          <a:stretch>
            <a:fillRect/>
          </a:stretch>
        </p:blipFill>
        <p:spPr>
          <a:xfrm>
            <a:off x="4381317" y="3763353"/>
            <a:ext cx="432222" cy="432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49"/>
          <p:cNvPicPr preferRelativeResize="0"/>
          <p:nvPr/>
        </p:nvPicPr>
        <p:blipFill>
          <a:blip r:embed="rId48">
            <a:alphaModFix/>
          </a:blip>
          <a:stretch>
            <a:fillRect/>
          </a:stretch>
        </p:blipFill>
        <p:spPr>
          <a:xfrm>
            <a:off x="5421140" y="4251223"/>
            <a:ext cx="382690" cy="382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9"/>
          <p:cNvPicPr preferRelativeResize="0"/>
          <p:nvPr/>
        </p:nvPicPr>
        <p:blipFill>
          <a:blip r:embed="rId49">
            <a:alphaModFix/>
          </a:blip>
          <a:stretch>
            <a:fillRect/>
          </a:stretch>
        </p:blipFill>
        <p:spPr>
          <a:xfrm>
            <a:off x="1561510" y="1329664"/>
            <a:ext cx="617460" cy="617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9"/>
          <p:cNvPicPr preferRelativeResize="0"/>
          <p:nvPr/>
        </p:nvPicPr>
        <p:blipFill>
          <a:blip r:embed="rId50">
            <a:alphaModFix/>
          </a:blip>
          <a:stretch>
            <a:fillRect/>
          </a:stretch>
        </p:blipFill>
        <p:spPr>
          <a:xfrm>
            <a:off x="7078625" y="585419"/>
            <a:ext cx="431346" cy="43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49"/>
          <p:cNvPicPr preferRelativeResize="0"/>
          <p:nvPr/>
        </p:nvPicPr>
        <p:blipFill>
          <a:blip r:embed="rId51">
            <a:alphaModFix/>
          </a:blip>
          <a:stretch>
            <a:fillRect/>
          </a:stretch>
        </p:blipFill>
        <p:spPr>
          <a:xfrm>
            <a:off x="7121933" y="1135419"/>
            <a:ext cx="431346" cy="43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49"/>
          <p:cNvPicPr preferRelativeResize="0"/>
          <p:nvPr/>
        </p:nvPicPr>
        <p:blipFill>
          <a:blip r:embed="rId52">
            <a:alphaModFix/>
          </a:blip>
          <a:stretch>
            <a:fillRect/>
          </a:stretch>
        </p:blipFill>
        <p:spPr>
          <a:xfrm rot="808536">
            <a:off x="8249366" y="2529116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49"/>
          <p:cNvPicPr preferRelativeResize="0"/>
          <p:nvPr/>
        </p:nvPicPr>
        <p:blipFill>
          <a:blip r:embed="rId53">
            <a:alphaModFix/>
          </a:blip>
          <a:stretch>
            <a:fillRect/>
          </a:stretch>
        </p:blipFill>
        <p:spPr>
          <a:xfrm>
            <a:off x="7692265" y="249421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49"/>
          <p:cNvPicPr preferRelativeResize="0"/>
          <p:nvPr/>
        </p:nvPicPr>
        <p:blipFill>
          <a:blip r:embed="rId54">
            <a:alphaModFix/>
          </a:blip>
          <a:stretch>
            <a:fillRect/>
          </a:stretch>
        </p:blipFill>
        <p:spPr>
          <a:xfrm>
            <a:off x="7202083" y="2494244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49"/>
          <p:cNvPicPr preferRelativeResize="0"/>
          <p:nvPr/>
        </p:nvPicPr>
        <p:blipFill>
          <a:blip r:embed="rId55">
            <a:alphaModFix/>
          </a:blip>
          <a:stretch>
            <a:fillRect/>
          </a:stretch>
        </p:blipFill>
        <p:spPr>
          <a:xfrm>
            <a:off x="7202071" y="1974083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49"/>
          <p:cNvPicPr preferRelativeResize="0"/>
          <p:nvPr/>
        </p:nvPicPr>
        <p:blipFill>
          <a:blip r:embed="rId56">
            <a:alphaModFix/>
          </a:blip>
          <a:stretch>
            <a:fillRect/>
          </a:stretch>
        </p:blipFill>
        <p:spPr>
          <a:xfrm>
            <a:off x="7692265" y="1974071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49"/>
          <p:cNvPicPr preferRelativeResize="0"/>
          <p:nvPr/>
        </p:nvPicPr>
        <p:blipFill>
          <a:blip r:embed="rId57">
            <a:alphaModFix/>
          </a:blip>
          <a:stretch>
            <a:fillRect/>
          </a:stretch>
        </p:blipFill>
        <p:spPr>
          <a:xfrm>
            <a:off x="8218004" y="116739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49"/>
          <p:cNvPicPr preferRelativeResize="0"/>
          <p:nvPr/>
        </p:nvPicPr>
        <p:blipFill>
          <a:blip r:embed="rId58">
            <a:alphaModFix/>
          </a:blip>
          <a:stretch>
            <a:fillRect/>
          </a:stretch>
        </p:blipFill>
        <p:spPr>
          <a:xfrm>
            <a:off x="7631405" y="118047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49"/>
          <p:cNvPicPr preferRelativeResize="0"/>
          <p:nvPr/>
        </p:nvPicPr>
        <p:blipFill>
          <a:blip r:embed="rId59">
            <a:alphaModFix/>
          </a:blip>
          <a:stretch>
            <a:fillRect/>
          </a:stretch>
        </p:blipFill>
        <p:spPr>
          <a:xfrm>
            <a:off x="8164542" y="57884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49"/>
          <p:cNvPicPr preferRelativeResize="0"/>
          <p:nvPr/>
        </p:nvPicPr>
        <p:blipFill>
          <a:blip r:embed="rId60">
            <a:alphaModFix/>
          </a:blip>
          <a:stretch>
            <a:fillRect/>
          </a:stretch>
        </p:blipFill>
        <p:spPr>
          <a:xfrm>
            <a:off x="7666734" y="57884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49"/>
          <p:cNvPicPr preferRelativeResize="0"/>
          <p:nvPr/>
        </p:nvPicPr>
        <p:blipFill>
          <a:blip r:embed="rId61">
            <a:alphaModFix/>
          </a:blip>
          <a:stretch>
            <a:fillRect/>
          </a:stretch>
        </p:blipFill>
        <p:spPr>
          <a:xfrm>
            <a:off x="3495732" y="583314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49"/>
          <p:cNvPicPr preferRelativeResize="0"/>
          <p:nvPr/>
        </p:nvPicPr>
        <p:blipFill>
          <a:blip r:embed="rId62">
            <a:alphaModFix/>
          </a:blip>
          <a:stretch>
            <a:fillRect/>
          </a:stretch>
        </p:blipFill>
        <p:spPr>
          <a:xfrm>
            <a:off x="7197364" y="4023550"/>
            <a:ext cx="432067" cy="432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49"/>
          <p:cNvPicPr preferRelativeResize="0"/>
          <p:nvPr/>
        </p:nvPicPr>
        <p:blipFill>
          <a:blip r:embed="rId63">
            <a:alphaModFix/>
          </a:blip>
          <a:stretch>
            <a:fillRect/>
          </a:stretch>
        </p:blipFill>
        <p:spPr>
          <a:xfrm>
            <a:off x="7175125" y="3370459"/>
            <a:ext cx="432067" cy="432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49"/>
          <p:cNvPicPr preferRelativeResize="0"/>
          <p:nvPr/>
        </p:nvPicPr>
        <p:blipFill>
          <a:blip r:embed="rId64">
            <a:alphaModFix/>
          </a:blip>
          <a:stretch>
            <a:fillRect/>
          </a:stretch>
        </p:blipFill>
        <p:spPr>
          <a:xfrm>
            <a:off x="8193251" y="1974071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49"/>
          <p:cNvPicPr preferRelativeResize="0"/>
          <p:nvPr/>
        </p:nvPicPr>
        <p:blipFill rotWithShape="1">
          <a:blip r:embed="rId65">
            <a:alphaModFix/>
          </a:blip>
          <a:srcRect/>
          <a:stretch/>
        </p:blipFill>
        <p:spPr>
          <a:xfrm>
            <a:off x="2337816" y="2058480"/>
            <a:ext cx="443210" cy="443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9"/>
          <p:cNvPicPr preferRelativeResize="0"/>
          <p:nvPr/>
        </p:nvPicPr>
        <p:blipFill>
          <a:blip r:embed="rId66">
            <a:alphaModFix/>
          </a:blip>
          <a:stretch>
            <a:fillRect/>
          </a:stretch>
        </p:blipFill>
        <p:spPr>
          <a:xfrm>
            <a:off x="2775062" y="1388632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49"/>
          <p:cNvPicPr preferRelativeResize="0"/>
          <p:nvPr/>
        </p:nvPicPr>
        <p:blipFill rotWithShape="1">
          <a:blip r:embed="rId67">
            <a:alphaModFix/>
          </a:blip>
          <a:srcRect/>
          <a:stretch/>
        </p:blipFill>
        <p:spPr>
          <a:xfrm>
            <a:off x="5056303" y="4700669"/>
            <a:ext cx="306250" cy="306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49"/>
          <p:cNvPicPr preferRelativeResize="0"/>
          <p:nvPr/>
        </p:nvPicPr>
        <p:blipFill rotWithShape="1">
          <a:blip r:embed="rId68">
            <a:alphaModFix/>
          </a:blip>
          <a:srcRect/>
          <a:stretch/>
        </p:blipFill>
        <p:spPr>
          <a:xfrm>
            <a:off x="5476501" y="4711956"/>
            <a:ext cx="306250" cy="306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49"/>
          <p:cNvPicPr preferRelativeResize="0"/>
          <p:nvPr/>
        </p:nvPicPr>
        <p:blipFill>
          <a:blip r:embed="rId69">
            <a:alphaModFix/>
          </a:blip>
          <a:stretch>
            <a:fillRect/>
          </a:stretch>
        </p:blipFill>
        <p:spPr>
          <a:xfrm>
            <a:off x="2691814" y="2761497"/>
            <a:ext cx="437718" cy="437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49"/>
          <p:cNvPicPr preferRelativeResize="0"/>
          <p:nvPr/>
        </p:nvPicPr>
        <p:blipFill>
          <a:blip r:embed="rId70">
            <a:alphaModFix/>
          </a:blip>
          <a:stretch>
            <a:fillRect/>
          </a:stretch>
        </p:blipFill>
        <p:spPr>
          <a:xfrm>
            <a:off x="3835523" y="1440998"/>
            <a:ext cx="617475" cy="61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49"/>
          <p:cNvPicPr preferRelativeResize="0"/>
          <p:nvPr/>
        </p:nvPicPr>
        <p:blipFill>
          <a:blip r:embed="rId71">
            <a:alphaModFix/>
          </a:blip>
          <a:stretch>
            <a:fillRect/>
          </a:stretch>
        </p:blipFill>
        <p:spPr>
          <a:xfrm>
            <a:off x="4540306" y="1419187"/>
            <a:ext cx="729762" cy="729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0"/>
          <p:cNvSpPr/>
          <p:nvPr/>
        </p:nvSpPr>
        <p:spPr>
          <a:xfrm>
            <a:off x="5386000" y="197300"/>
            <a:ext cx="3467400" cy="2147400"/>
          </a:xfrm>
          <a:prstGeom prst="roundRect">
            <a:avLst>
              <a:gd name="adj" fmla="val 16667"/>
            </a:avLst>
          </a:prstGeom>
          <a:solidFill>
            <a:srgbClr val="9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7" name="Google Shape;33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677" y="1327053"/>
            <a:ext cx="1812680" cy="62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7700" y="489978"/>
            <a:ext cx="1812644" cy="627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6748" y="670077"/>
            <a:ext cx="941925" cy="1201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10300" y="2760755"/>
            <a:ext cx="1883234" cy="780798"/>
          </a:xfrm>
          <a:prstGeom prst="rect">
            <a:avLst/>
          </a:prstGeom>
          <a:noFill/>
          <a:ln>
            <a:noFill/>
          </a:ln>
          <a:effectLst>
            <a:outerShdw blurRad="114300" dist="19050" dir="5880000" algn="bl" rotWithShape="0">
              <a:srgbClr val="000000">
                <a:alpha val="40000"/>
              </a:srgbClr>
            </a:outerShdw>
          </a:effectLst>
        </p:spPr>
      </p:pic>
      <p:pic>
        <p:nvPicPr>
          <p:cNvPr id="341" name="Google Shape;341;p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72170" y="3726284"/>
            <a:ext cx="1948175" cy="765766"/>
          </a:xfrm>
          <a:prstGeom prst="rect">
            <a:avLst/>
          </a:prstGeom>
          <a:noFill/>
          <a:ln>
            <a:noFill/>
          </a:ln>
          <a:effectLst>
            <a:outerShdw blurRad="114300" dist="19050" dir="5880000" algn="bl" rotWithShape="0">
              <a:srgbClr val="000000">
                <a:alpha val="40000"/>
              </a:srgbClr>
            </a:outerShdw>
          </a:effectLst>
        </p:spPr>
      </p:pic>
      <p:pic>
        <p:nvPicPr>
          <p:cNvPr id="342" name="Google Shape;342;p5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95668" y="510640"/>
            <a:ext cx="765850" cy="112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5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792750" y="586627"/>
            <a:ext cx="1397868" cy="1081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5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08750" y="623231"/>
            <a:ext cx="880325" cy="899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5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27775" y="1972625"/>
            <a:ext cx="880324" cy="879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5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638025" y="1871888"/>
            <a:ext cx="1081150" cy="108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5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795678" y="3300686"/>
            <a:ext cx="941925" cy="101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5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108466" y="1689619"/>
            <a:ext cx="880325" cy="1348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5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77949" y="3180927"/>
            <a:ext cx="941925" cy="1087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1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Шаблоны, которые вы можете использовать для рассказа о своем проекте</a:t>
            </a:r>
            <a:endParaRPr/>
          </a:p>
        </p:txBody>
      </p:sp>
      <p:pic>
        <p:nvPicPr>
          <p:cNvPr id="355" name="Google Shape;35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075" y="430338"/>
            <a:ext cx="939325" cy="9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2"/>
          <p:cNvSpPr txBox="1">
            <a:spLocks noGrp="1"/>
          </p:cNvSpPr>
          <p:nvPr>
            <p:ph type="title"/>
          </p:nvPr>
        </p:nvSpPr>
        <p:spPr>
          <a:xfrm>
            <a:off x="548556" y="1594106"/>
            <a:ext cx="7379700" cy="1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venir"/>
              <a:buNone/>
            </a:pPr>
            <a:r>
              <a:rPr lang="ru"/>
              <a:t>Материал для моделирования</a:t>
            </a:r>
            <a:endParaRPr sz="3600">
              <a:solidFill>
                <a:srgbClr val="FBFBFE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p52"/>
          <p:cNvSpPr/>
          <p:nvPr/>
        </p:nvSpPr>
        <p:spPr>
          <a:xfrm>
            <a:off x="494025" y="682688"/>
            <a:ext cx="6167400" cy="1070700"/>
          </a:xfrm>
          <a:prstGeom prst="roundRect">
            <a:avLst>
              <a:gd name="adj" fmla="val 16667"/>
            </a:avLst>
          </a:prstGeom>
          <a:solidFill>
            <a:srgbClr val="40299B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Название подтемы</a:t>
            </a:r>
            <a:endParaRPr sz="3400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362" name="Google Shape;36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4100" y="1077650"/>
            <a:ext cx="1078825" cy="124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3"/>
          <p:cNvSpPr txBox="1"/>
          <p:nvPr/>
        </p:nvSpPr>
        <p:spPr>
          <a:xfrm>
            <a:off x="721493" y="832471"/>
            <a:ext cx="77010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lang="ru" sz="5300" b="1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Определение – это</a:t>
            </a:r>
            <a:endParaRPr sz="2300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68" name="Google Shape;368;p53"/>
          <p:cNvSpPr txBox="1"/>
          <p:nvPr/>
        </p:nvSpPr>
        <p:spPr>
          <a:xfrm>
            <a:off x="721500" y="1984175"/>
            <a:ext cx="7403400" cy="17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описание данных в виде набора сущностей, отношений между ними, атрибутов сущностей, </a:t>
            </a:r>
            <a:endParaRPr sz="23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их типов данных, соглашений об именовании </a:t>
            </a:r>
            <a:endParaRPr sz="23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и правил проверки целостностей 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4"/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66522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Слайды с “кнопками” </a:t>
            </a:r>
            <a:endParaRPr/>
          </a:p>
        </p:txBody>
      </p:sp>
      <p:sp>
        <p:nvSpPr>
          <p:cNvPr id="374" name="Google Shape;374;p54"/>
          <p:cNvSpPr/>
          <p:nvPr/>
        </p:nvSpPr>
        <p:spPr>
          <a:xfrm>
            <a:off x="720000" y="1534575"/>
            <a:ext cx="5400900" cy="1427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Тезис 1/Определение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" name="Google Shape;375;p54"/>
          <p:cNvSpPr/>
          <p:nvPr/>
        </p:nvSpPr>
        <p:spPr>
          <a:xfrm>
            <a:off x="720000" y="3285100"/>
            <a:ext cx="5400900" cy="14274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Тезис 2 (выбирая его, словно щелкаем на него мышью,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и в следующем слайде раскрываем выбранную 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мысль полностью) / Определение 2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376" name="Google Shape;37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3550" y="3889950"/>
            <a:ext cx="739326" cy="85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5"/>
          <p:cNvSpPr/>
          <p:nvPr/>
        </p:nvSpPr>
        <p:spPr>
          <a:xfrm>
            <a:off x="1010550" y="1550450"/>
            <a:ext cx="6878100" cy="14274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Определение</a:t>
            </a: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 – </a:t>
            </a:r>
            <a:r>
              <a:rPr lang="ru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их типов данных, соглашений об именовании и правил проверки целостностей 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82" name="Google Shape;38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1800" y="2312100"/>
            <a:ext cx="739326" cy="85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6"/>
          <p:cNvSpPr txBox="1">
            <a:spLocks noGrp="1"/>
          </p:cNvSpPr>
          <p:nvPr>
            <p:ph type="title"/>
          </p:nvPr>
        </p:nvSpPr>
        <p:spPr>
          <a:xfrm>
            <a:off x="611950" y="318675"/>
            <a:ext cx="82143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Заголовок: главная мысль слайда </a:t>
            </a:r>
            <a:endParaRPr/>
          </a:p>
        </p:txBody>
      </p:sp>
      <p:sp>
        <p:nvSpPr>
          <p:cNvPr id="388" name="Google Shape;388;p56"/>
          <p:cNvSpPr txBox="1">
            <a:spLocks noGrp="1"/>
          </p:cNvSpPr>
          <p:nvPr>
            <p:ph type="title"/>
          </p:nvPr>
        </p:nvSpPr>
        <p:spPr>
          <a:xfrm>
            <a:off x="611950" y="938325"/>
            <a:ext cx="6724200" cy="4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0">
                <a:latin typeface="Roboto Medium"/>
                <a:ea typeface="Roboto Medium"/>
                <a:cs typeface="Roboto Medium"/>
                <a:sym typeface="Roboto Medium"/>
              </a:rPr>
              <a:t>Подзаголовок – дополнение к основной мысли</a:t>
            </a:r>
            <a:endParaRPr sz="1500" b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89" name="Google Shape;389;p56"/>
          <p:cNvSpPr txBox="1"/>
          <p:nvPr/>
        </p:nvSpPr>
        <p:spPr>
          <a:xfrm>
            <a:off x="662850" y="1917013"/>
            <a:ext cx="4092000" cy="19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Источников много 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Кроме того, в той же микросервисной архитектуре у нас запрос от клиента может проходить через несколько различных микросервисов, причем в зависимости 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от различных аспектов, этот путь может состоять из разных узлов.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" name="Google Shape;390;p56"/>
          <p:cNvSpPr/>
          <p:nvPr/>
        </p:nvSpPr>
        <p:spPr>
          <a:xfrm>
            <a:off x="6203150" y="1392225"/>
            <a:ext cx="2490600" cy="30939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место для иллюстрации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7"/>
          <p:cNvSpPr txBox="1">
            <a:spLocks noGrp="1"/>
          </p:cNvSpPr>
          <p:nvPr>
            <p:ph type="title"/>
          </p:nvPr>
        </p:nvSpPr>
        <p:spPr>
          <a:xfrm>
            <a:off x="638800" y="351150"/>
            <a:ext cx="82143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Главная мысль слайда</a:t>
            </a:r>
            <a:endParaRPr/>
          </a:p>
        </p:txBody>
      </p:sp>
      <p:sp>
        <p:nvSpPr>
          <p:cNvPr id="396" name="Google Shape;396;p57"/>
          <p:cNvSpPr txBox="1"/>
          <p:nvPr/>
        </p:nvSpPr>
        <p:spPr>
          <a:xfrm>
            <a:off x="611950" y="1269600"/>
            <a:ext cx="60666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этой статье мы будем завершать тему мониторинга и поговорим  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 мониторинге работы самих приложений. 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Какими средствами и как можно осуществлять сбор метрик 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с приложений и что такое трассировка.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уже говорилось в предыдущих статьях, мы можем осуществлять сбор количественных показателей по событиям, формирующим тренды с помощью метрик.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Кроме того, в той же микросервисной архитектуре у нас запрос 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от клиента может проходить через несколько различных микросервисов.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 зависимости от различных аспектов, этот путь может состоять из разных узлов. 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8"/>
          <p:cNvSpPr txBox="1"/>
          <p:nvPr/>
        </p:nvSpPr>
        <p:spPr>
          <a:xfrm>
            <a:off x="800575" y="1349525"/>
            <a:ext cx="7224600" cy="30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этой статье мы будем завершать тему мониторинга 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и поговорим о мониторинге работы самих приложений. 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Какими средствами и как можно осуществлять сбор 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метрик с приложений и что такое трассировка.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уже говорилось в предыдущих статьях, мы можем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осуществлять сбор количественных показателей 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 событиям, формирующим тренды с помощью метрик.</a:t>
            </a:r>
            <a:endParaRPr sz="15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5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p58"/>
          <p:cNvSpPr txBox="1">
            <a:spLocks noGrp="1"/>
          </p:cNvSpPr>
          <p:nvPr>
            <p:ph type="title"/>
          </p:nvPr>
        </p:nvSpPr>
        <p:spPr>
          <a:xfrm>
            <a:off x="611950" y="350875"/>
            <a:ext cx="82143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Главная мысль слайда</a:t>
            </a:r>
            <a:endParaRPr/>
          </a:p>
        </p:txBody>
      </p:sp>
      <p:pic>
        <p:nvPicPr>
          <p:cNvPr id="403" name="Google Shape;40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200" y="1468125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200" y="2410750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200" y="3353375"/>
            <a:ext cx="315075" cy="32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9"/>
          <p:cNvSpPr txBox="1">
            <a:spLocks noGrp="1"/>
          </p:cNvSpPr>
          <p:nvPr>
            <p:ph type="title"/>
          </p:nvPr>
        </p:nvSpPr>
        <p:spPr>
          <a:xfrm>
            <a:off x="623400" y="345599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50505"/>
                </a:solidFill>
              </a:rPr>
              <a:t>Слайд со списком </a:t>
            </a:r>
            <a:endParaRPr>
              <a:solidFill>
                <a:srgbClr val="050505"/>
              </a:solidFill>
            </a:endParaRPr>
          </a:p>
        </p:txBody>
      </p:sp>
      <p:graphicFrame>
        <p:nvGraphicFramePr>
          <p:cNvPr id="411" name="Google Shape;411;p59"/>
          <p:cNvGraphicFramePr/>
          <p:nvPr/>
        </p:nvGraphicFramePr>
        <p:xfrm>
          <a:off x="623400" y="1392000"/>
          <a:ext cx="7239000" cy="1828750"/>
        </p:xfrm>
        <a:graphic>
          <a:graphicData uri="http://schemas.openxmlformats.org/drawingml/2006/table">
            <a:tbl>
              <a:tblPr>
                <a:noFill/>
                <a:tableStyleId>{E8092599-3BE6-4749-9E42-993CAE0AD635}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5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5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5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5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sz="15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0"/>
          <p:cNvSpPr txBox="1">
            <a:spLocks noGrp="1"/>
          </p:cNvSpPr>
          <p:nvPr>
            <p:ph type="title"/>
          </p:nvPr>
        </p:nvSpPr>
        <p:spPr>
          <a:xfrm>
            <a:off x="611950" y="326500"/>
            <a:ext cx="8214300" cy="113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Главная мысль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слайда  </a:t>
            </a:r>
            <a:endParaRPr/>
          </a:p>
        </p:txBody>
      </p:sp>
      <p:sp>
        <p:nvSpPr>
          <p:cNvPr id="417" name="Google Shape;417;p60"/>
          <p:cNvSpPr txBox="1">
            <a:spLocks noGrp="1"/>
          </p:cNvSpPr>
          <p:nvPr>
            <p:ph type="title"/>
          </p:nvPr>
        </p:nvSpPr>
        <p:spPr>
          <a:xfrm>
            <a:off x="611950" y="1646950"/>
            <a:ext cx="4239900" cy="24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0">
                <a:solidFill>
                  <a:srgbClr val="333333"/>
                </a:solidFill>
                <a:highlight>
                  <a:srgbClr val="FFFFFF"/>
                </a:highlight>
              </a:rPr>
              <a:t>В случае, если мы обнаружили превышение </a:t>
            </a:r>
            <a:endParaRPr sz="1300" b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0">
                <a:solidFill>
                  <a:srgbClr val="333333"/>
                </a:solidFill>
                <a:highlight>
                  <a:srgbClr val="FFFFFF"/>
                </a:highlight>
              </a:rPr>
              <a:t>по какому-то определенному параметру, то </a:t>
            </a:r>
            <a:endParaRPr sz="1300" b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0">
                <a:solidFill>
                  <a:srgbClr val="333333"/>
                </a:solidFill>
                <a:highlight>
                  <a:srgbClr val="FFFFFF"/>
                </a:highlight>
              </a:rPr>
              <a:t>нам необходимо разобраться в причинах произошедшего, и здесь нам на помощь приходят журналы событий сервисов. </a:t>
            </a:r>
            <a:endParaRPr sz="1300" b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0">
                <a:solidFill>
                  <a:srgbClr val="333333"/>
                </a:solidFill>
                <a:highlight>
                  <a:srgbClr val="FFFFFF"/>
                </a:highlight>
              </a:rPr>
              <a:t>В логах можно найти много полезной информации касающейся проблем в работе приложения, по сути, если событие в принципе логируется, то мы можем его найти и проанализировать.</a:t>
            </a:r>
            <a:endParaRPr sz="1300" b="0"/>
          </a:p>
        </p:txBody>
      </p:sp>
      <p:sp>
        <p:nvSpPr>
          <p:cNvPr id="418" name="Google Shape;418;p60"/>
          <p:cNvSpPr txBox="1"/>
          <p:nvPr/>
        </p:nvSpPr>
        <p:spPr>
          <a:xfrm>
            <a:off x="611950" y="4496675"/>
            <a:ext cx="4239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rPr>
              <a:t>ссылка на источник кегль 11: </a:t>
            </a:r>
            <a:r>
              <a:rPr lang="ru" sz="11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https://habr.com/ru/companies/rosatom/articles/841842/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" name="Google Shape;419;p60"/>
          <p:cNvSpPr/>
          <p:nvPr/>
        </p:nvSpPr>
        <p:spPr>
          <a:xfrm>
            <a:off x="5306100" y="0"/>
            <a:ext cx="38379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место для иллюстрации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1"/>
          <p:cNvSpPr txBox="1">
            <a:spLocks noGrp="1"/>
          </p:cNvSpPr>
          <p:nvPr>
            <p:ph type="title"/>
          </p:nvPr>
        </p:nvSpPr>
        <p:spPr>
          <a:xfrm>
            <a:off x="623400" y="42597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3 колонками</a:t>
            </a:r>
            <a:endParaRPr/>
          </a:p>
        </p:txBody>
      </p:sp>
      <p:sp>
        <p:nvSpPr>
          <p:cNvPr id="425" name="Google Shape;425;p61"/>
          <p:cNvSpPr txBox="1"/>
          <p:nvPr/>
        </p:nvSpPr>
        <p:spPr>
          <a:xfrm>
            <a:off x="1394388" y="2747863"/>
            <a:ext cx="2159100" cy="17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Над текстовым полем могут быть иконки, цифры, иллюстрации – всё, на чем вы хотите сакцентировать внимание студентов.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" name="Google Shape;426;p61"/>
          <p:cNvSpPr txBox="1"/>
          <p:nvPr/>
        </p:nvSpPr>
        <p:spPr>
          <a:xfrm>
            <a:off x="3670788" y="2747863"/>
            <a:ext cx="2159100" cy="17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Над текстовым полем могут быть иконки, цифры, иллюстрации – всё, на чем вы хотите сакцентировать внимание студентов.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" name="Google Shape;427;p61"/>
          <p:cNvSpPr txBox="1"/>
          <p:nvPr/>
        </p:nvSpPr>
        <p:spPr>
          <a:xfrm>
            <a:off x="5947188" y="2747863"/>
            <a:ext cx="2159100" cy="17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Над текстовым полем могут быть иконки, цифры, иллюстрации – всё, на чем вы хотите сакцентировать внимание студентов.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28" name="Google Shape;428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3850" y="179197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9100" y="179197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46850" y="1791975"/>
            <a:ext cx="685800" cy="685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1" name="Google Shape;431;p61"/>
          <p:cNvGrpSpPr/>
          <p:nvPr/>
        </p:nvGrpSpPr>
        <p:grpSpPr>
          <a:xfrm>
            <a:off x="6080501" y="248200"/>
            <a:ext cx="2783324" cy="1153950"/>
            <a:chOff x="6567151" y="248200"/>
            <a:chExt cx="2783324" cy="1153950"/>
          </a:xfrm>
        </p:grpSpPr>
        <p:pic>
          <p:nvPicPr>
            <p:cNvPr id="432" name="Google Shape;432;p6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567151" y="248200"/>
              <a:ext cx="2783324" cy="1153950"/>
            </a:xfrm>
            <a:prstGeom prst="rect">
              <a:avLst/>
            </a:prstGeom>
            <a:noFill/>
            <a:ln>
              <a:noFill/>
            </a:ln>
            <a:effectLst>
              <a:outerShdw blurRad="200025" dist="28575" dir="4200000" algn="bl" rotWithShape="0">
                <a:srgbClr val="000000">
                  <a:alpha val="30000"/>
                </a:srgbClr>
              </a:outerShdw>
            </a:effectLst>
          </p:spPr>
        </p:pic>
        <p:sp>
          <p:nvSpPr>
            <p:cNvPr id="433" name="Google Shape;433;p61"/>
            <p:cNvSpPr txBox="1"/>
            <p:nvPr/>
          </p:nvSpPr>
          <p:spPr>
            <a:xfrm>
              <a:off x="6966546" y="434875"/>
              <a:ext cx="22215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100" b="1">
                  <a:latin typeface="Roboto"/>
                  <a:ea typeface="Roboto"/>
                  <a:cs typeface="Roboto"/>
                  <a:sym typeface="Roboto"/>
                </a:rPr>
                <a:t>поменяйте иконки на подходящие по смыслу (слайд 100)</a:t>
              </a:r>
              <a:endParaRPr sz="1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2"/>
          <p:cNvSpPr txBox="1">
            <a:spLocks noGrp="1"/>
          </p:cNvSpPr>
          <p:nvPr>
            <p:ph type="title"/>
          </p:nvPr>
        </p:nvSpPr>
        <p:spPr>
          <a:xfrm>
            <a:off x="500550" y="28057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Сравнение двух кейсов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</a:pPr>
            <a:endParaRPr/>
          </a:p>
        </p:txBody>
      </p:sp>
      <p:sp>
        <p:nvSpPr>
          <p:cNvPr id="439" name="Google Shape;439;p62"/>
          <p:cNvSpPr/>
          <p:nvPr/>
        </p:nvSpPr>
        <p:spPr>
          <a:xfrm>
            <a:off x="4795100" y="1522725"/>
            <a:ext cx="3414600" cy="24006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" name="Google Shape;440;p62"/>
          <p:cNvSpPr/>
          <p:nvPr/>
        </p:nvSpPr>
        <p:spPr>
          <a:xfrm>
            <a:off x="934300" y="1522725"/>
            <a:ext cx="3414600" cy="24006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1" name="Google Shape;441;p62"/>
          <p:cNvSpPr txBox="1"/>
          <p:nvPr/>
        </p:nvSpPr>
        <p:spPr>
          <a:xfrm>
            <a:off x="1040225" y="1993025"/>
            <a:ext cx="3414600" cy="16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метрик является то, что они поддаются агрегированию, то есть, метрики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похожи на атомы, которые складываются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единый логический индикатор, счетчик или гистограмму за определенный промежуток времени.</a:t>
            </a: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3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2" name="Google Shape;442;p62"/>
          <p:cNvSpPr txBox="1"/>
          <p:nvPr/>
        </p:nvSpPr>
        <p:spPr>
          <a:xfrm>
            <a:off x="5005100" y="2000675"/>
            <a:ext cx="3204600" cy="16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качестве примеров: текущая глубина очереди может быть смоделирована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индикатор, количество входящих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HTTP-запросов может быть смоделировано как счетчик, обновления которого агрегируются простым сложением.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" name="Google Shape;443;p62"/>
          <p:cNvSpPr txBox="1"/>
          <p:nvPr/>
        </p:nvSpPr>
        <p:spPr>
          <a:xfrm>
            <a:off x="1040225" y="1637850"/>
            <a:ext cx="1482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9857F3"/>
                </a:solidFill>
                <a:latin typeface="Roboto"/>
                <a:ea typeface="Roboto"/>
                <a:cs typeface="Roboto"/>
                <a:sym typeface="Roboto"/>
              </a:rPr>
              <a:t>Кейс 1</a:t>
            </a:r>
            <a:endParaRPr sz="1700" b="1">
              <a:solidFill>
                <a:srgbClr val="9857F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" name="Google Shape;444;p62"/>
          <p:cNvSpPr txBox="1"/>
          <p:nvPr/>
        </p:nvSpPr>
        <p:spPr>
          <a:xfrm>
            <a:off x="5005100" y="1637850"/>
            <a:ext cx="1482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2AB7E4"/>
                </a:solidFill>
                <a:latin typeface="Roboto"/>
                <a:ea typeface="Roboto"/>
                <a:cs typeface="Roboto"/>
                <a:sym typeface="Roboto"/>
              </a:rPr>
              <a:t>Кейс 2</a:t>
            </a:r>
            <a:endParaRPr sz="1700" b="1">
              <a:solidFill>
                <a:srgbClr val="2AB7E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2050" y="0"/>
            <a:ext cx="921605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63"/>
          <p:cNvSpPr/>
          <p:nvPr/>
        </p:nvSpPr>
        <p:spPr>
          <a:xfrm>
            <a:off x="1850100" y="804751"/>
            <a:ext cx="5443800" cy="1185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1" name="Google Shape;451;p63"/>
          <p:cNvSpPr/>
          <p:nvPr/>
        </p:nvSpPr>
        <p:spPr>
          <a:xfrm>
            <a:off x="1850100" y="2134582"/>
            <a:ext cx="5443800" cy="1185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2" name="Google Shape;452;p63"/>
          <p:cNvSpPr/>
          <p:nvPr/>
        </p:nvSpPr>
        <p:spPr>
          <a:xfrm>
            <a:off x="1850100" y="3464401"/>
            <a:ext cx="5443800" cy="1185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3" name="Google Shape;453;p63"/>
          <p:cNvSpPr txBox="1"/>
          <p:nvPr/>
        </p:nvSpPr>
        <p:spPr>
          <a:xfrm>
            <a:off x="2234263" y="928500"/>
            <a:ext cx="48195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метрик является то, что они поддаются агрегированию, то есть, метрики похожи на атомы, которые складываются в единый логический индикатор, счетчик или гистограмму за определенный промежуток времени.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" name="Google Shape;454;p63"/>
          <p:cNvSpPr txBox="1"/>
          <p:nvPr/>
        </p:nvSpPr>
        <p:spPr>
          <a:xfrm>
            <a:off x="2234263" y="2196450"/>
            <a:ext cx="48195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метрик является то, что они поддаются агрегированию, то есть, метрики похожи на атомы, которые складываются в единый логический индикатор, счетчик или гистограмму за определенный промежуток времени.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5" name="Google Shape;455;p63"/>
          <p:cNvSpPr txBox="1"/>
          <p:nvPr/>
        </p:nvSpPr>
        <p:spPr>
          <a:xfrm>
            <a:off x="2234263" y="3588150"/>
            <a:ext cx="48195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метрик является то, что они поддаются агрегированию, то есть, метрики похожи на атомы, которые складываются в единый логический индикатор, счетчик или гистограмму за определенный промежуток времени.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4"/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66522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Заголовок: главная мысль слайда </a:t>
            </a:r>
            <a:endParaRPr/>
          </a:p>
        </p:txBody>
      </p:sp>
      <p:sp>
        <p:nvSpPr>
          <p:cNvPr id="461" name="Google Shape;461;p64"/>
          <p:cNvSpPr/>
          <p:nvPr/>
        </p:nvSpPr>
        <p:spPr>
          <a:xfrm>
            <a:off x="6148300" y="1441775"/>
            <a:ext cx="2623800" cy="3105900"/>
          </a:xfrm>
          <a:prstGeom prst="roundRect">
            <a:avLst>
              <a:gd name="adj" fmla="val 13977"/>
            </a:avLst>
          </a:prstGeom>
          <a:solidFill>
            <a:srgbClr val="3F299A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2" name="Google Shape;462;p64"/>
          <p:cNvSpPr txBox="1"/>
          <p:nvPr/>
        </p:nvSpPr>
        <p:spPr>
          <a:xfrm>
            <a:off x="6237700" y="1888650"/>
            <a:ext cx="2445000" cy="21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Место для кейса на полях: разместите здесь пример, иллюстрирующий вашу мысль, интересный факт, ссылку на дополнительный источник информации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 и т.д.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63" name="Google Shape;463;p64"/>
          <p:cNvSpPr txBox="1"/>
          <p:nvPr/>
        </p:nvSpPr>
        <p:spPr>
          <a:xfrm>
            <a:off x="600400" y="1584975"/>
            <a:ext cx="5053500" cy="23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этой статье мы будем завершать тему мониторинга </a:t>
            </a:r>
            <a:endParaRPr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и поговорим о мониторинге работы самих приложений. Какими средствами и как можно осуществлять сбор метрик с приложений и что такое трассировка.</a:t>
            </a:r>
            <a:endParaRPr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уже говорилось в предыдущих статьях, мы можем осуществлять сбор количественных показателей по событиям, формирующим тренды с помощью метрик.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64" name="Google Shape;46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2000" y="3843575"/>
            <a:ext cx="739326" cy="85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65"/>
          <p:cNvSpPr txBox="1"/>
          <p:nvPr/>
        </p:nvSpPr>
        <p:spPr>
          <a:xfrm>
            <a:off x="567600" y="1572900"/>
            <a:ext cx="39063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Мысль, </a:t>
            </a:r>
            <a:endParaRPr sz="33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объединяющая пункты списка</a:t>
            </a:r>
            <a:endParaRPr sz="33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470" name="Google Shape;470;p65"/>
          <p:cNvGraphicFramePr/>
          <p:nvPr/>
        </p:nvGraphicFramePr>
        <p:xfrm>
          <a:off x="4917613" y="643800"/>
          <a:ext cx="3795750" cy="3852916"/>
        </p:xfrm>
        <a:graphic>
          <a:graphicData uri="http://schemas.openxmlformats.org/drawingml/2006/table">
            <a:tbl>
              <a:tblPr>
                <a:noFill/>
                <a:tableStyleId>{E8092599-3BE6-4749-9E42-993CAE0AD635}</a:tableStyleId>
              </a:tblPr>
              <a:tblGrid>
                <a:gridCol w="379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51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отношений между ними, атрибутов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их типов данных, соглашений об именовании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1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отношений между ними, атрибутов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их типов данных, соглашений об именовании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отношений между ними, атрибутов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их типов данных, соглашений об именовании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71" name="Google Shape;471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3900" y="1024700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3900" y="2453675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3900" y="3882650"/>
            <a:ext cx="315075" cy="32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8" name="Google Shape;478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7766" y="2154250"/>
            <a:ext cx="1432496" cy="658400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79" name="Google Shape;479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738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80" name="Google Shape;480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98124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81" name="Google Shape;481;p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83276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82" name="Google Shape;482;p6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47946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83" name="Google Shape;483;p6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04655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484" name="Google Shape;484;p66"/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485" name="Google Shape;485;p66"/>
          <p:cNvSpPr txBox="1"/>
          <p:nvPr/>
        </p:nvSpPr>
        <p:spPr>
          <a:xfrm>
            <a:off x="666741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66"/>
          <p:cNvSpPr txBox="1"/>
          <p:nvPr/>
        </p:nvSpPr>
        <p:spPr>
          <a:xfrm>
            <a:off x="2051513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66"/>
          <p:cNvSpPr txBox="1"/>
          <p:nvPr/>
        </p:nvSpPr>
        <p:spPr>
          <a:xfrm>
            <a:off x="3426048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" name="Google Shape;488;p66"/>
          <p:cNvSpPr txBox="1"/>
          <p:nvPr/>
        </p:nvSpPr>
        <p:spPr>
          <a:xfrm>
            <a:off x="4796971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" name="Google Shape;489;p66"/>
          <p:cNvSpPr txBox="1"/>
          <p:nvPr/>
        </p:nvSpPr>
        <p:spPr>
          <a:xfrm>
            <a:off x="6175865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0" name="Google Shape;490;p66"/>
          <p:cNvSpPr txBox="1"/>
          <p:nvPr/>
        </p:nvSpPr>
        <p:spPr>
          <a:xfrm>
            <a:off x="7518328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6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91" name="Google Shape;491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3490" y="3229250"/>
            <a:ext cx="1489885" cy="86939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92" name="Google Shape;492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675" y="3229251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93" name="Google Shape;493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53522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94" name="Google Shape;494;p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94166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95" name="Google Shape;495;p6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13507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96" name="Google Shape;496;p6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24569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497" name="Google Shape;497;p66"/>
          <p:cNvSpPr txBox="1"/>
          <p:nvPr/>
        </p:nvSpPr>
        <p:spPr>
          <a:xfrm>
            <a:off x="576814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8" name="Google Shape;498;p66"/>
          <p:cNvSpPr txBox="1"/>
          <p:nvPr/>
        </p:nvSpPr>
        <p:spPr>
          <a:xfrm>
            <a:off x="2017063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9" name="Google Shape;499;p66"/>
          <p:cNvSpPr txBox="1"/>
          <p:nvPr/>
        </p:nvSpPr>
        <p:spPr>
          <a:xfrm>
            <a:off x="3446664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 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0" name="Google Shape;500;p66"/>
          <p:cNvSpPr txBox="1"/>
          <p:nvPr/>
        </p:nvSpPr>
        <p:spPr>
          <a:xfrm>
            <a:off x="4872508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1" name="Google Shape;501;p66"/>
          <p:cNvSpPr txBox="1"/>
          <p:nvPr/>
        </p:nvSpPr>
        <p:spPr>
          <a:xfrm>
            <a:off x="6306643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" name="Google Shape;502;p66"/>
          <p:cNvSpPr txBox="1"/>
          <p:nvPr/>
        </p:nvSpPr>
        <p:spPr>
          <a:xfrm>
            <a:off x="7702888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6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08" name="Google Shape;508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09" name="Google Shape;509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10" name="Google Shape;510;p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511" name="Google Shape;511;p67"/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512" name="Google Shape;512;p67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3" name="Google Shape;513;p67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4" name="Google Shape;514;p67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67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16" name="Google Shape;516;p67"/>
          <p:cNvGraphicFramePr/>
          <p:nvPr/>
        </p:nvGraphicFramePr>
        <p:xfrm>
          <a:off x="922850" y="3116575"/>
          <a:ext cx="7239000" cy="1275622"/>
        </p:xfrm>
        <a:graphic>
          <a:graphicData uri="http://schemas.openxmlformats.org/drawingml/2006/table">
            <a:tbl>
              <a:tblPr>
                <a:noFill/>
                <a:tableStyleId>{E8092599-3BE6-4749-9E42-993CAE0AD635}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626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22" name="Google Shape;522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6014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23" name="Google Shape;523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66940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24" name="Google Shape;524;p6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47926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25" name="Google Shape;525;p6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28892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526" name="Google Shape;526;p68"/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527" name="Google Shape;527;p68"/>
          <p:cNvSpPr txBox="1"/>
          <p:nvPr/>
        </p:nvSpPr>
        <p:spPr>
          <a:xfrm>
            <a:off x="786781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" name="Google Shape;528;p68"/>
          <p:cNvSpPr txBox="1"/>
          <p:nvPr/>
        </p:nvSpPr>
        <p:spPr>
          <a:xfrm>
            <a:off x="2436168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9" name="Google Shape;529;p68"/>
          <p:cNvSpPr txBox="1"/>
          <p:nvPr/>
        </p:nvSpPr>
        <p:spPr>
          <a:xfrm>
            <a:off x="4057095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0" name="Google Shape;530;p68"/>
          <p:cNvSpPr txBox="1"/>
          <p:nvPr/>
        </p:nvSpPr>
        <p:spPr>
          <a:xfrm>
            <a:off x="5738081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1" name="Google Shape;531;p68"/>
          <p:cNvSpPr txBox="1"/>
          <p:nvPr/>
        </p:nvSpPr>
        <p:spPr>
          <a:xfrm>
            <a:off x="7419047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32" name="Google Shape;532;p68"/>
          <p:cNvGraphicFramePr/>
          <p:nvPr/>
        </p:nvGraphicFramePr>
        <p:xfrm>
          <a:off x="496600" y="3116575"/>
          <a:ext cx="8275500" cy="1276130"/>
        </p:xfrm>
        <a:graphic>
          <a:graphicData uri="http://schemas.openxmlformats.org/drawingml/2006/table">
            <a:tbl>
              <a:tblPr>
                <a:noFill/>
                <a:tableStyleId>{E8092599-3BE6-4749-9E42-993CAE0AD635}</a:tableStyleId>
              </a:tblPr>
              <a:tblGrid>
                <a:gridCol w="165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5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5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7" name="Google Shape;537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9775" y="1462600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38" name="Google Shape;538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9775" y="2175797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39" name="Google Shape;539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9775" y="2852067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40" name="Google Shape;540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79775" y="3519916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41" name="Google Shape;541;p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79775" y="4187778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542" name="Google Shape;542;p69"/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543" name="Google Shape;543;p69"/>
          <p:cNvSpPr txBox="1"/>
          <p:nvPr/>
        </p:nvSpPr>
        <p:spPr>
          <a:xfrm>
            <a:off x="1508200" y="1552261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" name="Google Shape;544;p69"/>
          <p:cNvSpPr txBox="1"/>
          <p:nvPr/>
        </p:nvSpPr>
        <p:spPr>
          <a:xfrm>
            <a:off x="1508200" y="2265458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5" name="Google Shape;545;p69"/>
          <p:cNvSpPr txBox="1"/>
          <p:nvPr/>
        </p:nvSpPr>
        <p:spPr>
          <a:xfrm>
            <a:off x="1508200" y="2941728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6" name="Google Shape;546;p69"/>
          <p:cNvSpPr txBox="1"/>
          <p:nvPr/>
        </p:nvSpPr>
        <p:spPr>
          <a:xfrm>
            <a:off x="1508200" y="3609577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7" name="Google Shape;547;p69"/>
          <p:cNvSpPr txBox="1"/>
          <p:nvPr/>
        </p:nvSpPr>
        <p:spPr>
          <a:xfrm>
            <a:off x="1508200" y="4277439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48" name="Google Shape;548;p69"/>
          <p:cNvGraphicFramePr/>
          <p:nvPr/>
        </p:nvGraphicFramePr>
        <p:xfrm>
          <a:off x="2781050" y="1435100"/>
          <a:ext cx="5494225" cy="3479970"/>
        </p:xfrm>
        <a:graphic>
          <a:graphicData uri="http://schemas.openxmlformats.org/drawingml/2006/table">
            <a:tbl>
              <a:tblPr>
                <a:noFill/>
                <a:tableStyleId>{E8092599-3BE6-4749-9E42-993CAE0AD635}</a:tableStyleId>
              </a:tblPr>
              <a:tblGrid>
                <a:gridCol w="549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29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9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9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9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9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Google Shape;553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79166" y="1028450"/>
            <a:ext cx="5861734" cy="4256950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70"/>
          <p:cNvSpPr/>
          <p:nvPr/>
        </p:nvSpPr>
        <p:spPr>
          <a:xfrm>
            <a:off x="4701625" y="1717700"/>
            <a:ext cx="1622400" cy="646500"/>
          </a:xfrm>
          <a:prstGeom prst="roundRect">
            <a:avLst>
              <a:gd name="adj" fmla="val 16667"/>
            </a:avLst>
          </a:prstGeom>
          <a:solidFill>
            <a:srgbClr val="FAFB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5" name="Google Shape;555;p70"/>
          <p:cNvSpPr/>
          <p:nvPr/>
        </p:nvSpPr>
        <p:spPr>
          <a:xfrm>
            <a:off x="5652425" y="2842775"/>
            <a:ext cx="1622400" cy="646500"/>
          </a:xfrm>
          <a:prstGeom prst="roundRect">
            <a:avLst>
              <a:gd name="adj" fmla="val 16667"/>
            </a:avLst>
          </a:prstGeom>
          <a:solidFill>
            <a:srgbClr val="FAFB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" name="Google Shape;556;p70"/>
          <p:cNvSpPr/>
          <p:nvPr/>
        </p:nvSpPr>
        <p:spPr>
          <a:xfrm>
            <a:off x="5197600" y="3967850"/>
            <a:ext cx="1622400" cy="646500"/>
          </a:xfrm>
          <a:prstGeom prst="roundRect">
            <a:avLst>
              <a:gd name="adj" fmla="val 16667"/>
            </a:avLst>
          </a:prstGeom>
          <a:solidFill>
            <a:srgbClr val="FAFB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7" name="Google Shape;557;p70"/>
          <p:cNvSpPr/>
          <p:nvPr/>
        </p:nvSpPr>
        <p:spPr>
          <a:xfrm>
            <a:off x="3180175" y="4287250"/>
            <a:ext cx="1622400" cy="646500"/>
          </a:xfrm>
          <a:prstGeom prst="roundRect">
            <a:avLst>
              <a:gd name="adj" fmla="val 16667"/>
            </a:avLst>
          </a:prstGeom>
          <a:solidFill>
            <a:srgbClr val="FAFB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8" name="Google Shape;558;p70"/>
          <p:cNvSpPr/>
          <p:nvPr/>
        </p:nvSpPr>
        <p:spPr>
          <a:xfrm>
            <a:off x="1617075" y="3521863"/>
            <a:ext cx="1622400" cy="646500"/>
          </a:xfrm>
          <a:prstGeom prst="roundRect">
            <a:avLst>
              <a:gd name="adj" fmla="val 16667"/>
            </a:avLst>
          </a:prstGeom>
          <a:solidFill>
            <a:srgbClr val="FAFB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9" name="Google Shape;559;p70"/>
          <p:cNvSpPr/>
          <p:nvPr/>
        </p:nvSpPr>
        <p:spPr>
          <a:xfrm>
            <a:off x="1380700" y="2574700"/>
            <a:ext cx="1622400" cy="646500"/>
          </a:xfrm>
          <a:prstGeom prst="roundRect">
            <a:avLst>
              <a:gd name="adj" fmla="val 16667"/>
            </a:avLst>
          </a:prstGeom>
          <a:solidFill>
            <a:srgbClr val="FAFB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0" name="Google Shape;560;p70"/>
          <p:cNvSpPr txBox="1"/>
          <p:nvPr/>
        </p:nvSpPr>
        <p:spPr>
          <a:xfrm>
            <a:off x="592975" y="381950"/>
            <a:ext cx="8550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Определения, которые нужно сгруппировать</a:t>
            </a:r>
            <a:endParaRPr/>
          </a:p>
        </p:txBody>
      </p:sp>
      <p:sp>
        <p:nvSpPr>
          <p:cNvPr id="561" name="Google Shape;561;p70"/>
          <p:cNvSpPr txBox="1"/>
          <p:nvPr/>
        </p:nvSpPr>
        <p:spPr>
          <a:xfrm>
            <a:off x="3457909" y="2796575"/>
            <a:ext cx="1739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Центральное</a:t>
            </a:r>
            <a:endParaRPr sz="18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8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2" name="Google Shape;562;p70"/>
          <p:cNvSpPr/>
          <p:nvPr/>
        </p:nvSpPr>
        <p:spPr>
          <a:xfrm>
            <a:off x="2537225" y="1627525"/>
            <a:ext cx="1622400" cy="646500"/>
          </a:xfrm>
          <a:prstGeom prst="roundRect">
            <a:avLst>
              <a:gd name="adj" fmla="val 16667"/>
            </a:avLst>
          </a:prstGeom>
          <a:solidFill>
            <a:srgbClr val="FAFB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3" name="Google Shape;563;p70"/>
          <p:cNvSpPr txBox="1"/>
          <p:nvPr/>
        </p:nvSpPr>
        <p:spPr>
          <a:xfrm>
            <a:off x="1499775" y="2690200"/>
            <a:ext cx="1395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4" name="Google Shape;564;p70"/>
          <p:cNvSpPr txBox="1"/>
          <p:nvPr/>
        </p:nvSpPr>
        <p:spPr>
          <a:xfrm>
            <a:off x="2609976" y="1762525"/>
            <a:ext cx="1476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5" name="Google Shape;565;p70"/>
          <p:cNvSpPr txBox="1"/>
          <p:nvPr/>
        </p:nvSpPr>
        <p:spPr>
          <a:xfrm>
            <a:off x="4802581" y="1833207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6" name="Google Shape;566;p70"/>
          <p:cNvSpPr txBox="1"/>
          <p:nvPr/>
        </p:nvSpPr>
        <p:spPr>
          <a:xfrm>
            <a:off x="5760402" y="2958263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7" name="Google Shape;567;p70"/>
          <p:cNvSpPr txBox="1"/>
          <p:nvPr/>
        </p:nvSpPr>
        <p:spPr>
          <a:xfrm>
            <a:off x="5301135" y="4083357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8" name="Google Shape;568;p70"/>
          <p:cNvSpPr txBox="1"/>
          <p:nvPr/>
        </p:nvSpPr>
        <p:spPr>
          <a:xfrm>
            <a:off x="3295713" y="4402745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9" name="Google Shape;569;p70"/>
          <p:cNvSpPr txBox="1"/>
          <p:nvPr/>
        </p:nvSpPr>
        <p:spPr>
          <a:xfrm>
            <a:off x="1718200" y="3617868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71"/>
          <p:cNvSpPr txBox="1">
            <a:spLocks noGrp="1"/>
          </p:cNvSpPr>
          <p:nvPr>
            <p:ph type="title"/>
          </p:nvPr>
        </p:nvSpPr>
        <p:spPr>
          <a:xfrm>
            <a:off x="623400" y="420549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кодом 1</a:t>
            </a:r>
            <a:endParaRPr/>
          </a:p>
        </p:txBody>
      </p:sp>
      <p:sp>
        <p:nvSpPr>
          <p:cNvPr id="575" name="Google Shape;575;p71"/>
          <p:cNvSpPr txBox="1">
            <a:spLocks noGrp="1"/>
          </p:cNvSpPr>
          <p:nvPr>
            <p:ph type="subTitle" idx="1"/>
          </p:nvPr>
        </p:nvSpPr>
        <p:spPr>
          <a:xfrm>
            <a:off x="754725" y="1516450"/>
            <a:ext cx="8029200" cy="340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 dirty="0"/>
              <a:t>  </a:t>
            </a:r>
            <a:r>
              <a:rPr lang="ru" dirty="0">
                <a:solidFill>
                  <a:srgbClr val="0645AD"/>
                </a:solidFill>
              </a:rPr>
              <a:t>int</a:t>
            </a:r>
            <a:r>
              <a:rPr lang="ru" dirty="0"/>
              <a:t> **a;  </a:t>
            </a:r>
            <a:r>
              <a:rPr lang="ru" dirty="0">
                <a:solidFill>
                  <a:srgbClr val="019836"/>
                </a:solidFill>
              </a:rPr>
              <a:t>// указатель на указатель на строку элементов</a:t>
            </a:r>
            <a:endParaRPr dirty="0"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 dirty="0"/>
              <a:t>  </a:t>
            </a:r>
            <a:r>
              <a:rPr lang="ru" dirty="0">
                <a:solidFill>
                  <a:srgbClr val="0645AD"/>
                </a:solidFill>
              </a:rPr>
              <a:t>int</a:t>
            </a:r>
            <a:r>
              <a:rPr lang="ru" dirty="0"/>
              <a:t> i, j, n, m;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 dirty="0"/>
              <a:t>  system(</a:t>
            </a:r>
            <a:r>
              <a:rPr lang="ru" dirty="0">
                <a:solidFill>
                  <a:srgbClr val="A61C00"/>
                </a:solidFill>
              </a:rPr>
              <a:t>"chcp 1251"</a:t>
            </a:r>
            <a:r>
              <a:rPr lang="ru" dirty="0"/>
              <a:t>);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 dirty="0"/>
              <a:t>  system(</a:t>
            </a:r>
            <a:r>
              <a:rPr lang="ru" dirty="0">
                <a:solidFill>
                  <a:srgbClr val="A61C00"/>
                </a:solidFill>
              </a:rPr>
              <a:t>"cls"</a:t>
            </a:r>
            <a:r>
              <a:rPr lang="ru" dirty="0"/>
              <a:t>);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 dirty="0"/>
              <a:t>  printf(</a:t>
            </a:r>
            <a:r>
              <a:rPr lang="ru" dirty="0">
                <a:solidFill>
                  <a:srgbClr val="A61C00"/>
                </a:solidFill>
              </a:rPr>
              <a:t>"Введите количество строк: "</a:t>
            </a:r>
            <a:r>
              <a:rPr lang="ru" dirty="0"/>
              <a:t>);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 dirty="0"/>
              <a:t>  scanf(</a:t>
            </a:r>
            <a:r>
              <a:rPr lang="ru" dirty="0">
                <a:solidFill>
                  <a:srgbClr val="A61C00"/>
                </a:solidFill>
              </a:rPr>
              <a:t>"%d"</a:t>
            </a:r>
            <a:r>
              <a:rPr lang="ru" dirty="0"/>
              <a:t>, &amp;n);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 dirty="0"/>
              <a:t>  printf(</a:t>
            </a:r>
            <a:r>
              <a:rPr lang="ru" dirty="0">
                <a:solidFill>
                  <a:srgbClr val="A61C00"/>
                </a:solidFill>
              </a:rPr>
              <a:t>"Введите количество столбцов: "</a:t>
            </a:r>
            <a:r>
              <a:rPr lang="ru" dirty="0"/>
              <a:t>);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 dirty="0"/>
              <a:t>  scanf(</a:t>
            </a:r>
            <a:r>
              <a:rPr lang="ru" dirty="0">
                <a:solidFill>
                  <a:srgbClr val="A61C00"/>
                </a:solidFill>
              </a:rPr>
              <a:t>"%d"</a:t>
            </a:r>
            <a:r>
              <a:rPr lang="ru" dirty="0"/>
              <a:t>, &amp;m);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 dirty="0"/>
              <a:t>  </a:t>
            </a:r>
            <a:r>
              <a:rPr lang="ru" dirty="0">
                <a:solidFill>
                  <a:srgbClr val="019836"/>
                </a:solidFill>
              </a:rPr>
              <a:t>// Выделение памяти под указатели на строки</a:t>
            </a:r>
            <a:endParaRPr dirty="0"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 dirty="0"/>
              <a:t>  a = (</a:t>
            </a:r>
            <a:r>
              <a:rPr lang="ru" dirty="0">
                <a:solidFill>
                  <a:srgbClr val="0645AD"/>
                </a:solidFill>
              </a:rPr>
              <a:t>int</a:t>
            </a:r>
            <a:r>
              <a:rPr lang="ru" dirty="0"/>
              <a:t>**)malloc (n * </a:t>
            </a:r>
            <a:r>
              <a:rPr lang="ru" dirty="0">
                <a:solidFill>
                  <a:srgbClr val="0645AD"/>
                </a:solidFill>
              </a:rPr>
              <a:t>sizeof</a:t>
            </a:r>
            <a:r>
              <a:rPr lang="ru" dirty="0"/>
              <a:t>(</a:t>
            </a:r>
            <a:r>
              <a:rPr lang="ru" dirty="0">
                <a:solidFill>
                  <a:srgbClr val="0645AD"/>
                </a:solidFill>
              </a:rPr>
              <a:t>int*</a:t>
            </a:r>
            <a:r>
              <a:rPr lang="ru" dirty="0"/>
              <a:t>));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 dirty="0"/>
              <a:t>  </a:t>
            </a:r>
            <a:r>
              <a:rPr lang="ru" dirty="0">
                <a:solidFill>
                  <a:srgbClr val="019836"/>
                </a:solidFill>
              </a:rPr>
              <a:t>// Ввод элементов массива</a:t>
            </a:r>
            <a:endParaRPr dirty="0"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 dirty="0"/>
              <a:t>  </a:t>
            </a:r>
            <a:r>
              <a:rPr lang="ru" dirty="0">
                <a:solidFill>
                  <a:srgbClr val="0645AD"/>
                </a:solidFill>
              </a:rPr>
              <a:t>for </a:t>
            </a:r>
            <a:r>
              <a:rPr lang="ru" dirty="0"/>
              <a:t>(i = 0; i&lt;n; i++)  </a:t>
            </a:r>
            <a:r>
              <a:rPr lang="ru" dirty="0">
                <a:solidFill>
                  <a:srgbClr val="019836"/>
                </a:solidFill>
              </a:rPr>
              <a:t>// цикл по строкам</a:t>
            </a:r>
            <a:endParaRPr dirty="0"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 dirty="0"/>
              <a:t>  {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 dirty="0"/>
              <a:t>    </a:t>
            </a:r>
            <a:r>
              <a:rPr lang="ru" dirty="0">
                <a:solidFill>
                  <a:srgbClr val="019836"/>
                </a:solidFill>
              </a:rPr>
              <a:t>// Выделение памяти под хранение строк</a:t>
            </a:r>
            <a:endParaRPr dirty="0"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 dirty="0"/>
              <a:t>    a[i] = (</a:t>
            </a:r>
            <a:r>
              <a:rPr lang="ru" dirty="0">
                <a:solidFill>
                  <a:srgbClr val="0645AD"/>
                </a:solidFill>
              </a:rPr>
              <a:t>int</a:t>
            </a:r>
            <a:r>
              <a:rPr lang="ru" dirty="0"/>
              <a:t>*)malloc(m * </a:t>
            </a:r>
            <a:r>
              <a:rPr lang="ru" dirty="0">
                <a:solidFill>
                  <a:srgbClr val="0645AD"/>
                </a:solidFill>
              </a:rPr>
              <a:t>sizeof</a:t>
            </a:r>
            <a:r>
              <a:rPr lang="ru" dirty="0"/>
              <a:t>(</a:t>
            </a:r>
            <a:r>
              <a:rPr lang="ru" dirty="0">
                <a:solidFill>
                  <a:srgbClr val="0645AD"/>
                </a:solidFill>
              </a:rPr>
              <a:t>int</a:t>
            </a:r>
            <a:r>
              <a:rPr lang="ru" dirty="0"/>
              <a:t>));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 dirty="0"/>
              <a:t>    </a:t>
            </a:r>
            <a:r>
              <a:rPr lang="ru" dirty="0">
                <a:solidFill>
                  <a:srgbClr val="0645AD"/>
                </a:solidFill>
              </a:rPr>
              <a:t>for </a:t>
            </a:r>
            <a:r>
              <a:rPr lang="ru" dirty="0"/>
              <a:t>(j = 0; j&lt;m; j++)  </a:t>
            </a:r>
            <a:r>
              <a:rPr lang="ru" dirty="0">
                <a:solidFill>
                  <a:srgbClr val="019836"/>
                </a:solidFill>
              </a:rPr>
              <a:t>// цикл по столбцам</a:t>
            </a:r>
            <a:endParaRPr dirty="0"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 dirty="0"/>
              <a:t>    {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 dirty="0"/>
              <a:t>      printf(</a:t>
            </a:r>
            <a:r>
              <a:rPr lang="ru" dirty="0">
                <a:solidFill>
                  <a:srgbClr val="A61C00"/>
                </a:solidFill>
              </a:rPr>
              <a:t>"a[%d][%d] = "</a:t>
            </a:r>
            <a:r>
              <a:rPr lang="ru" dirty="0"/>
              <a:t>, i, j);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 dirty="0"/>
              <a:t>      scanf(</a:t>
            </a:r>
            <a:r>
              <a:rPr lang="ru" dirty="0">
                <a:solidFill>
                  <a:srgbClr val="A61C00"/>
                </a:solidFill>
              </a:rPr>
              <a:t>"%d"</a:t>
            </a:r>
            <a:r>
              <a:rPr lang="ru" dirty="0"/>
              <a:t>, &amp;a[i][j]);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 dirty="0"/>
              <a:t>    }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76" name="Google Shape;576;p71"/>
          <p:cNvSpPr/>
          <p:nvPr/>
        </p:nvSpPr>
        <p:spPr>
          <a:xfrm>
            <a:off x="2382100" y="2921900"/>
            <a:ext cx="1524900" cy="189300"/>
          </a:xfrm>
          <a:prstGeom prst="rect">
            <a:avLst/>
          </a:prstGeom>
          <a:noFill/>
          <a:ln w="9525" cap="flat" cmpd="sng">
            <a:solidFill>
              <a:srgbClr val="013D8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71"/>
          <p:cNvSpPr/>
          <p:nvPr/>
        </p:nvSpPr>
        <p:spPr>
          <a:xfrm>
            <a:off x="5605325" y="2159450"/>
            <a:ext cx="2663700" cy="453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13D8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(n * </a:t>
            </a:r>
            <a:r>
              <a:rPr lang="ru" sz="1700">
                <a:solidFill>
                  <a:srgbClr val="0645AD"/>
                </a:solidFill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700">
                <a:solidFill>
                  <a:srgbClr val="0645AD"/>
                </a:solidFill>
                <a:latin typeface="Courier New"/>
                <a:ea typeface="Courier New"/>
                <a:cs typeface="Courier New"/>
                <a:sym typeface="Courier New"/>
              </a:rPr>
              <a:t>int*</a:t>
            </a: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600"/>
          </a:p>
        </p:txBody>
      </p:sp>
      <p:cxnSp>
        <p:nvCxnSpPr>
          <p:cNvPr id="578" name="Google Shape;578;p71"/>
          <p:cNvCxnSpPr>
            <a:stCxn id="577" idx="1"/>
            <a:endCxn id="576" idx="3"/>
          </p:cNvCxnSpPr>
          <p:nvPr/>
        </p:nvCxnSpPr>
        <p:spPr>
          <a:xfrm flipH="1">
            <a:off x="3907025" y="2386250"/>
            <a:ext cx="1698300" cy="6303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rgbClr val="013D85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72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кодом 2</a:t>
            </a:r>
            <a:endParaRPr/>
          </a:p>
        </p:txBody>
      </p:sp>
      <p:sp>
        <p:nvSpPr>
          <p:cNvPr id="584" name="Google Shape;584;p72"/>
          <p:cNvSpPr txBox="1">
            <a:spLocks noGrp="1"/>
          </p:cNvSpPr>
          <p:nvPr>
            <p:ph type="subTitle" idx="1"/>
          </p:nvPr>
        </p:nvSpPr>
        <p:spPr>
          <a:xfrm>
            <a:off x="743675" y="1496071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**a;  </a:t>
            </a:r>
            <a:r>
              <a:rPr lang="ru">
                <a:solidFill>
                  <a:srgbClr val="019836"/>
                </a:solidFill>
              </a:rPr>
              <a:t>// указатель на указатель на строку элементов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i, j, n, m;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"chcp 1251"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"cls"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строк: 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&amp;n);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столбцов: 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&amp;m);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Выделение памяти под указатели на строки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a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**)malloc (n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int*</a:t>
            </a:r>
            <a:r>
              <a:rPr lang="ru"/>
              <a:t>));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Ввод элементов массива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(i = 0; i&lt;n; i++)  </a:t>
            </a:r>
            <a:r>
              <a:rPr lang="ru">
                <a:solidFill>
                  <a:srgbClr val="019836"/>
                </a:solidFill>
              </a:rPr>
              <a:t>// цикл по строкам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19836"/>
                </a:solidFill>
              </a:rPr>
              <a:t>// Выделение памяти под хранение строк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a[i]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*)malloc(m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));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(j = 0; j&lt;m; j++)  </a:t>
            </a:r>
            <a:r>
              <a:rPr lang="ru">
                <a:solidFill>
                  <a:srgbClr val="019836"/>
                </a:solidFill>
              </a:rPr>
              <a:t>// цикл по столбцам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printf(</a:t>
            </a:r>
            <a:r>
              <a:rPr lang="ru">
                <a:solidFill>
                  <a:srgbClr val="A61C00"/>
                </a:solidFill>
              </a:rPr>
              <a:t>"a[%d][%d] = "</a:t>
            </a:r>
            <a:r>
              <a:rPr lang="ru"/>
              <a:t>, i, j);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&amp;a[i][j]);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7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кодом 3</a:t>
            </a:r>
            <a:endParaRPr/>
          </a:p>
        </p:txBody>
      </p:sp>
      <p:sp>
        <p:nvSpPr>
          <p:cNvPr id="590" name="Google Shape;590;p73"/>
          <p:cNvSpPr txBox="1">
            <a:spLocks noGrp="1"/>
          </p:cNvSpPr>
          <p:nvPr>
            <p:ph type="subTitle" idx="1"/>
          </p:nvPr>
        </p:nvSpPr>
        <p:spPr>
          <a:xfrm>
            <a:off x="754725" y="1516450"/>
            <a:ext cx="8181900" cy="32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int **a;  // указатель на указатель на строку элементов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int i, j, n, m;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system("chcp 1251");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system("cls");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printf("Введите количество строк: ");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scanf("%d", &amp;n);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printf("Введите количество столбцов: ");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scanf("%d", &amp;m);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// Выделение памяти под указатели на строки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a = (int**)malloc(n * sizeof(int*));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// Ввод элементов массива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for (i = 0; i&lt;n; i++)  // цикл по строкам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// Выделение памяти под хранение строк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a[i] = (int*)malloc(m * sizeof(int));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for (j = 0; j&lt;m; j++)  // цикл по столбцам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printf("a[%d][%d] = ", i, j);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scanf("%d", &amp;a[i][j]);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   }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7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кодом и текстом </a:t>
            </a:r>
            <a:endParaRPr/>
          </a:p>
        </p:txBody>
      </p:sp>
      <p:sp>
        <p:nvSpPr>
          <p:cNvPr id="596" name="Google Shape;596;p7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</a:t>
            </a:r>
            <a:r>
              <a:rPr lang="ru">
                <a:solidFill>
                  <a:srgbClr val="0645AD"/>
                </a:solidFill>
              </a:rPr>
              <a:t> int</a:t>
            </a:r>
            <a:r>
              <a:rPr lang="ru"/>
              <a:t> **a;  </a:t>
            </a:r>
            <a:r>
              <a:rPr lang="ru">
                <a:solidFill>
                  <a:srgbClr val="019836"/>
                </a:solidFill>
              </a:rPr>
              <a:t>// указатель на строку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i, j, n, m;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"chcp 1251"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"cls"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строк: 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&amp;n);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столбцов: 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&amp;m);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    </a:t>
            </a:r>
            <a:r>
              <a:rPr lang="ru">
                <a:solidFill>
                  <a:srgbClr val="019836"/>
                </a:solidFill>
              </a:rPr>
              <a:t>// Выделение памяти под хранение строк</a:t>
            </a:r>
            <a:endParaRPr/>
          </a:p>
        </p:txBody>
      </p:sp>
      <p:sp>
        <p:nvSpPr>
          <p:cNvPr id="597" name="Google Shape;597;p74"/>
          <p:cNvSpPr txBox="1">
            <a:spLocks noGrp="1"/>
          </p:cNvSpPr>
          <p:nvPr>
            <p:ph type="subTitle" idx="1"/>
          </p:nvPr>
        </p:nvSpPr>
        <p:spPr>
          <a:xfrm>
            <a:off x="530000" y="1152250"/>
            <a:ext cx="7862400" cy="8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Тезис 1</a:t>
            </a:r>
            <a:endParaRPr sz="150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Тезис 2</a:t>
            </a:r>
            <a:endParaRPr sz="150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Тезис 3</a:t>
            </a:r>
            <a:endParaRPr sz="15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75"/>
          <p:cNvSpPr txBox="1">
            <a:spLocks noGrp="1"/>
          </p:cNvSpPr>
          <p:nvPr>
            <p:ph type="title"/>
          </p:nvPr>
        </p:nvSpPr>
        <p:spPr>
          <a:xfrm>
            <a:off x="654850" y="401149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таблицей</a:t>
            </a:r>
            <a:endParaRPr/>
          </a:p>
        </p:txBody>
      </p:sp>
      <p:graphicFrame>
        <p:nvGraphicFramePr>
          <p:cNvPr id="603" name="Google Shape;603;p75"/>
          <p:cNvGraphicFramePr/>
          <p:nvPr/>
        </p:nvGraphicFramePr>
        <p:xfrm>
          <a:off x="654850" y="136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{E8092599-3BE6-4749-9E42-993CAE0AD635}</a:tableStyleId>
              </a:tblPr>
              <a:tblGrid>
                <a:gridCol w="2269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6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7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76"/>
          <p:cNvSpPr txBox="1">
            <a:spLocks noGrp="1"/>
          </p:cNvSpPr>
          <p:nvPr>
            <p:ph type="title"/>
          </p:nvPr>
        </p:nvSpPr>
        <p:spPr>
          <a:xfrm>
            <a:off x="608700" y="4294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таблицей</a:t>
            </a:r>
            <a:endParaRPr/>
          </a:p>
        </p:txBody>
      </p:sp>
      <p:graphicFrame>
        <p:nvGraphicFramePr>
          <p:cNvPr id="609" name="Google Shape;609;p76"/>
          <p:cNvGraphicFramePr/>
          <p:nvPr/>
        </p:nvGraphicFramePr>
        <p:xfrm>
          <a:off x="608700" y="1378725"/>
          <a:ext cx="7961150" cy="2807725"/>
        </p:xfrm>
        <a:graphic>
          <a:graphicData uri="http://schemas.openxmlformats.org/drawingml/2006/table">
            <a:tbl>
              <a:tblPr>
                <a:noFill/>
                <a:tableStyleId>{E8092599-3BE6-4749-9E42-993CAE0AD635}</a:tableStyleId>
              </a:tblPr>
              <a:tblGrid>
                <a:gridCol w="3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" name="Google Shape;61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2"/>
            <a:ext cx="9144003" cy="5103318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77"/>
          <p:cNvSpPr txBox="1"/>
          <p:nvPr/>
        </p:nvSpPr>
        <p:spPr>
          <a:xfrm>
            <a:off x="720000" y="696425"/>
            <a:ext cx="7130700" cy="31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Единственно верного 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решения не существует. 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Хотя существует 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много неверных.</a:t>
            </a:r>
            <a:endParaRPr sz="5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endParaRPr sz="25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16" name="Google Shape;616;p77"/>
          <p:cNvSpPr txBox="1"/>
          <p:nvPr/>
        </p:nvSpPr>
        <p:spPr>
          <a:xfrm>
            <a:off x="5527975" y="3851825"/>
            <a:ext cx="3416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Дэвид Акин, NASA</a:t>
            </a:r>
            <a:endParaRPr sz="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20752</TotalTime>
  <Words>2948</Words>
  <Application>Microsoft Office PowerPoint</Application>
  <PresentationFormat>Экран (16:9)</PresentationFormat>
  <Paragraphs>402</Paragraphs>
  <Slides>51</Slides>
  <Notes>51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51</vt:i4>
      </vt:variant>
    </vt:vector>
  </HeadingPairs>
  <TitlesOfParts>
    <vt:vector size="61" baseType="lpstr">
      <vt:lpstr>Arial</vt:lpstr>
      <vt:lpstr>Avenir</vt:lpstr>
      <vt:lpstr>Calibri</vt:lpstr>
      <vt:lpstr>Roboto Medium</vt:lpstr>
      <vt:lpstr>Times New Roman</vt:lpstr>
      <vt:lpstr>Roboto</vt:lpstr>
      <vt:lpstr>Courier New</vt:lpstr>
      <vt:lpstr>Светлая тема</vt:lpstr>
      <vt:lpstr>Светлая тема</vt:lpstr>
      <vt:lpstr>Светлая тема</vt:lpstr>
      <vt:lpstr>Презентация PowerPoint</vt:lpstr>
      <vt:lpstr>Меня хорошо видно &amp; слышно?</vt:lpstr>
      <vt:lpstr>Защита проекта Тема: Управление потоками данных в ClickHouse   </vt:lpstr>
      <vt:lpstr>План защиты</vt:lpstr>
      <vt:lpstr>Презентация PowerPoint</vt:lpstr>
      <vt:lpstr>Какие технологии использовались </vt:lpstr>
      <vt:lpstr>Что получилось #1</vt:lpstr>
      <vt:lpstr>Что получилось #2</vt:lpstr>
      <vt:lpstr>Что получилось #3</vt:lpstr>
      <vt:lpstr>Что получилось #4</vt:lpstr>
      <vt:lpstr>Что получилось #5</vt:lpstr>
      <vt:lpstr>Что получилось #6</vt:lpstr>
      <vt:lpstr>Что получилось #7</vt:lpstr>
      <vt:lpstr>Что получилось #8</vt:lpstr>
      <vt:lpstr>Что получилось #9</vt:lpstr>
      <vt:lpstr>Выводы </vt:lpstr>
      <vt:lpstr>Презентация PowerPoint</vt:lpstr>
      <vt:lpstr>Спасибо за внимание!</vt:lpstr>
      <vt:lpstr>Презентация PowerPoint</vt:lpstr>
      <vt:lpstr>Инструменты для работы с презентацией</vt:lpstr>
      <vt:lpstr>Презентация PowerPoint</vt:lpstr>
      <vt:lpstr>Презентация PowerPoint</vt:lpstr>
      <vt:lpstr>Презентация PowerPoint</vt:lpstr>
      <vt:lpstr>Презентация PowerPoint</vt:lpstr>
      <vt:lpstr>Шаблоны, которые вы можете использовать для рассказа о своем проекте</vt:lpstr>
      <vt:lpstr>Материал для моделирования </vt:lpstr>
      <vt:lpstr>Презентация PowerPoint</vt:lpstr>
      <vt:lpstr>Слайды с “кнопками” </vt:lpstr>
      <vt:lpstr>Презентация PowerPoint</vt:lpstr>
      <vt:lpstr>Заголовок: главная мысль слайда </vt:lpstr>
      <vt:lpstr>Главная мысль слайда</vt:lpstr>
      <vt:lpstr>Главная мысль слайда</vt:lpstr>
      <vt:lpstr>Слайд со списком </vt:lpstr>
      <vt:lpstr>Главная мысль  слайда  </vt:lpstr>
      <vt:lpstr>Слайд с 3 колонками</vt:lpstr>
      <vt:lpstr>Сравнение двух кейсов  </vt:lpstr>
      <vt:lpstr>Презентация PowerPoint</vt:lpstr>
      <vt:lpstr>Заголовок: главная мысль слайда </vt:lpstr>
      <vt:lpstr>Презентация PowerPoint</vt:lpstr>
      <vt:lpstr>Процесс через этапы </vt:lpstr>
      <vt:lpstr>Процесс через этапы </vt:lpstr>
      <vt:lpstr>Процесс через этапы </vt:lpstr>
      <vt:lpstr>Процесс через этапы </vt:lpstr>
      <vt:lpstr>Презентация PowerPoint</vt:lpstr>
      <vt:lpstr>Слайд с кодом 1</vt:lpstr>
      <vt:lpstr>Слайд с кодом 2</vt:lpstr>
      <vt:lpstr>Слайд с кодом 3</vt:lpstr>
      <vt:lpstr>Слайд с кодом и текстом </vt:lpstr>
      <vt:lpstr>Слайд с таблицей</vt:lpstr>
      <vt:lpstr>Слайд с таблицей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Фролов Константин Алексеевич</cp:lastModifiedBy>
  <cp:revision>64</cp:revision>
  <dcterms:modified xsi:type="dcterms:W3CDTF">2025-08-13T15:13:45Z</dcterms:modified>
</cp:coreProperties>
</file>